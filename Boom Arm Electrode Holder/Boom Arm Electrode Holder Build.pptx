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8" r:id="rId12"/>
    <p:sldId id="269"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11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4653"/>
  </p:normalViewPr>
  <p:slideViewPr>
    <p:cSldViewPr snapToGrid="0">
      <p:cViewPr varScale="1">
        <p:scale>
          <a:sx n="121" d="100"/>
          <a:sy n="121" d="100"/>
        </p:scale>
        <p:origin x="38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AA4F1-A40B-92F5-73C4-D768ACAC5D6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ED9E888-8F72-5AAF-EC8D-80F0AE890B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EFBC00A-7683-1671-822F-F55AA3E70CA3}"/>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5" name="Footer Placeholder 4">
            <a:extLst>
              <a:ext uri="{FF2B5EF4-FFF2-40B4-BE49-F238E27FC236}">
                <a16:creationId xmlns:a16="http://schemas.microsoft.com/office/drawing/2014/main" id="{E277336E-E681-F416-C01C-16D10FAEE8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033B3C-AF39-AA1D-8307-3B1D63EFC853}"/>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37000963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B9B78-F457-2C05-B346-E996354325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3DBE94-90E4-EE8E-3DF8-FC3BB8C5B9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8FD624-AD14-6280-3462-7D2A5BCE17CD}"/>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5" name="Footer Placeholder 4">
            <a:extLst>
              <a:ext uri="{FF2B5EF4-FFF2-40B4-BE49-F238E27FC236}">
                <a16:creationId xmlns:a16="http://schemas.microsoft.com/office/drawing/2014/main" id="{20D4D1C0-4BA8-7329-BB14-9CFD05B3F6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89E5BD-9432-EB4A-83DA-DCC14F089979}"/>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22637489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45C67-890F-9530-711B-84DE35D3D7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C86392-42CA-A68A-C144-DC53731A383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EC3CBE-5782-89DC-A644-0893EBD85870}"/>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5" name="Footer Placeholder 4">
            <a:extLst>
              <a:ext uri="{FF2B5EF4-FFF2-40B4-BE49-F238E27FC236}">
                <a16:creationId xmlns:a16="http://schemas.microsoft.com/office/drawing/2014/main" id="{44508DD5-648D-7A2B-C12F-8446F92C73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7374DF-6917-C0DC-376C-8CC697AF7C13}"/>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1002003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B7501-EE4C-353F-4E21-2D4BF5F1680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318324-0FDF-26F0-88AA-55E109C453E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8581AD-0A2B-FA26-43B2-B33B777B1C2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08FA2DF-D121-F649-63DF-BAEDAD614BB2}"/>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6" name="Footer Placeholder 5">
            <a:extLst>
              <a:ext uri="{FF2B5EF4-FFF2-40B4-BE49-F238E27FC236}">
                <a16:creationId xmlns:a16="http://schemas.microsoft.com/office/drawing/2014/main" id="{871C6A38-401D-953E-8F90-B051A121AA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E525B2-9BC9-2500-2240-C6F831166B93}"/>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75896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1CB90-712A-C93C-4E90-E98F4F4D405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496AE7D-3168-2020-31D5-1789F58CE7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37A886-AAE6-36DD-D7EA-97BFC11682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3343905-BB15-919B-2F5F-FE2B380C80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85C9BA6-9DED-4845-53AF-9F79084666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1500061-D679-2173-0313-D909B9E57584}"/>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8" name="Footer Placeholder 7">
            <a:extLst>
              <a:ext uri="{FF2B5EF4-FFF2-40B4-BE49-F238E27FC236}">
                <a16:creationId xmlns:a16="http://schemas.microsoft.com/office/drawing/2014/main" id="{9FABF682-A541-C83F-0CB6-51377A95BD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76AEE60-247C-DC8F-3746-43C7B106EF2E}"/>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30369073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9CF9A-3E38-4872-EEDC-FFF7F415EFA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944C29-DD17-9A03-AB93-F42FB44838E6}"/>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4" name="Footer Placeholder 3">
            <a:extLst>
              <a:ext uri="{FF2B5EF4-FFF2-40B4-BE49-F238E27FC236}">
                <a16:creationId xmlns:a16="http://schemas.microsoft.com/office/drawing/2014/main" id="{FDF54A21-F516-0481-4949-5A3EE50E000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6611D7D-ED51-E91F-3A81-45ACE1D1565A}"/>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1376827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FF2FB34-6563-8814-5881-AF5C268F7B65}"/>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3" name="Footer Placeholder 2">
            <a:extLst>
              <a:ext uri="{FF2B5EF4-FFF2-40B4-BE49-F238E27FC236}">
                <a16:creationId xmlns:a16="http://schemas.microsoft.com/office/drawing/2014/main" id="{A535F35F-A571-85B9-2C13-3576E1CD696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4AB5BB-E6F5-5749-CE61-C27D022B43F4}"/>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641863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C3AE9-EC5C-41F3-40FF-ABE5EADFBF0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B7158FD-899F-6D4B-CC0B-17B4B62D32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1EA3934-5479-AF96-C88C-8AEB600223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104FDBA-53D6-35C3-792D-370D7AF98445}"/>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6" name="Footer Placeholder 5">
            <a:extLst>
              <a:ext uri="{FF2B5EF4-FFF2-40B4-BE49-F238E27FC236}">
                <a16:creationId xmlns:a16="http://schemas.microsoft.com/office/drawing/2014/main" id="{C54B4132-A4BC-14E2-E0B8-61E45C9EC5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850EE3-1F01-2C10-6DE7-EEAE3CC27EC8}"/>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30116532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F43F9-777E-740C-8E22-E572B86DAF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604E2F-E263-3081-2A2E-28B4962BAD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8222DA6-B51C-9347-C2E6-199FD453F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BFB705D-745F-E2B3-AE66-C1596A270922}"/>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6" name="Footer Placeholder 5">
            <a:extLst>
              <a:ext uri="{FF2B5EF4-FFF2-40B4-BE49-F238E27FC236}">
                <a16:creationId xmlns:a16="http://schemas.microsoft.com/office/drawing/2014/main" id="{52D1D026-AD87-01BA-FEA0-34F87B8706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065D765-27AA-500F-BC26-A5708DA0B9C7}"/>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23616747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46A59-DBE9-7DF9-B857-49EF681F89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211517F-971F-69EE-75C4-93B3F653D4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7AFCCF-E23C-618F-E518-875495523444}"/>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5" name="Footer Placeholder 4">
            <a:extLst>
              <a:ext uri="{FF2B5EF4-FFF2-40B4-BE49-F238E27FC236}">
                <a16:creationId xmlns:a16="http://schemas.microsoft.com/office/drawing/2014/main" id="{B561C826-7C48-14E1-A126-86CB4CDB8D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DAFF4E-A1C7-2188-F3C1-081899A8FECF}"/>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30958434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000C55-B6E4-AC9B-27EE-AB73F2DB872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2DE2F4-1401-06A2-0676-96D47AE84F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5CB690-3E5B-8261-C185-73C2388C38A8}"/>
              </a:ext>
            </a:extLst>
          </p:cNvPr>
          <p:cNvSpPr>
            <a:spLocks noGrp="1"/>
          </p:cNvSpPr>
          <p:nvPr>
            <p:ph type="dt" sz="half" idx="10"/>
          </p:nvPr>
        </p:nvSpPr>
        <p:spPr/>
        <p:txBody>
          <a:bodyPr/>
          <a:lstStyle/>
          <a:p>
            <a:fld id="{D0F87D02-9D1B-E241-9FDB-B5CA8FD7ACE2}" type="datetimeFigureOut">
              <a:rPr lang="en-US" smtClean="0"/>
              <a:t>5/23/26</a:t>
            </a:fld>
            <a:endParaRPr lang="en-US"/>
          </a:p>
        </p:txBody>
      </p:sp>
      <p:sp>
        <p:nvSpPr>
          <p:cNvPr id="5" name="Footer Placeholder 4">
            <a:extLst>
              <a:ext uri="{FF2B5EF4-FFF2-40B4-BE49-F238E27FC236}">
                <a16:creationId xmlns:a16="http://schemas.microsoft.com/office/drawing/2014/main" id="{C344C0F5-EB23-3337-AB3F-0DB4BDCB49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BABA4B-75BC-1861-B48F-A8909B87270B}"/>
              </a:ext>
            </a:extLst>
          </p:cNvPr>
          <p:cNvSpPr>
            <a:spLocks noGrp="1"/>
          </p:cNvSpPr>
          <p:nvPr>
            <p:ph type="sldNum" sz="quarter" idx="12"/>
          </p:nvPr>
        </p:nvSpPr>
        <p:spPr/>
        <p:txBody>
          <a:bodyPr/>
          <a:lstStyle/>
          <a:p>
            <a:fld id="{8226C810-0A63-CC45-8968-BBBAF6CB2327}" type="slidenum">
              <a:rPr lang="en-US" smtClean="0"/>
              <a:t>‹#›</a:t>
            </a:fld>
            <a:endParaRPr lang="en-US"/>
          </a:p>
        </p:txBody>
      </p:sp>
    </p:spTree>
    <p:extLst>
      <p:ext uri="{BB962C8B-B14F-4D97-AF65-F5344CB8AC3E}">
        <p14:creationId xmlns:p14="http://schemas.microsoft.com/office/powerpoint/2010/main" val="38739399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117D9C-961D-F70D-AF42-193B625B91A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2015B5C-8495-A97A-82E2-7658505CC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A07959-BC97-9221-951B-78DA0B55642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0F87D02-9D1B-E241-9FDB-B5CA8FD7ACE2}" type="datetimeFigureOut">
              <a:rPr lang="en-US" smtClean="0"/>
              <a:t>5/23/26</a:t>
            </a:fld>
            <a:endParaRPr lang="en-US"/>
          </a:p>
        </p:txBody>
      </p:sp>
      <p:sp>
        <p:nvSpPr>
          <p:cNvPr id="5" name="Footer Placeholder 4">
            <a:extLst>
              <a:ext uri="{FF2B5EF4-FFF2-40B4-BE49-F238E27FC236}">
                <a16:creationId xmlns:a16="http://schemas.microsoft.com/office/drawing/2014/main" id="{2D1EEDBB-6FCB-26EC-F117-5FB2ACB179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99E4376-DEC2-CCFF-0DEE-48FE0E9FD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226C810-0A63-CC45-8968-BBBAF6CB2327}" type="slidenum">
              <a:rPr lang="en-US" smtClean="0"/>
              <a:t>‹#›</a:t>
            </a:fld>
            <a:endParaRPr lang="en-US"/>
          </a:p>
        </p:txBody>
      </p:sp>
    </p:spTree>
    <p:extLst>
      <p:ext uri="{BB962C8B-B14F-4D97-AF65-F5344CB8AC3E}">
        <p14:creationId xmlns:p14="http://schemas.microsoft.com/office/powerpoint/2010/main" val="17378967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CrawFly/DIY-Neuroscience"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robot arm with wires and a syringe&#10;&#10;AI-generated content may be incorrect.">
            <a:extLst>
              <a:ext uri="{FF2B5EF4-FFF2-40B4-BE49-F238E27FC236}">
                <a16:creationId xmlns:a16="http://schemas.microsoft.com/office/drawing/2014/main" id="{604A55AA-093E-17EE-B526-31CECDE50A68}"/>
              </a:ext>
            </a:extLst>
          </p:cNvPr>
          <p:cNvPicPr>
            <a:picLocks noChangeAspect="1"/>
          </p:cNvPicPr>
          <p:nvPr/>
        </p:nvPicPr>
        <p:blipFill>
          <a:blip r:embed="rId2"/>
          <a:srcRect l="13091" t="9228" r="15975" b="8881"/>
          <a:stretch>
            <a:fillRect/>
          </a:stretch>
        </p:blipFill>
        <p:spPr>
          <a:xfrm>
            <a:off x="2985247" y="1196788"/>
            <a:ext cx="5513294" cy="4773706"/>
          </a:xfrm>
          <a:prstGeom prst="rect">
            <a:avLst/>
          </a:prstGeom>
        </p:spPr>
      </p:pic>
      <p:sp>
        <p:nvSpPr>
          <p:cNvPr id="4" name="TextBox 3">
            <a:extLst>
              <a:ext uri="{FF2B5EF4-FFF2-40B4-BE49-F238E27FC236}">
                <a16:creationId xmlns:a16="http://schemas.microsoft.com/office/drawing/2014/main" id="{DA94518C-F457-55F6-2550-FCE37699E69D}"/>
              </a:ext>
            </a:extLst>
          </p:cNvPr>
          <p:cNvSpPr txBox="1"/>
          <p:nvPr/>
        </p:nvSpPr>
        <p:spPr>
          <a:xfrm>
            <a:off x="935257" y="302731"/>
            <a:ext cx="9613273" cy="584775"/>
          </a:xfrm>
          <a:prstGeom prst="rect">
            <a:avLst/>
          </a:prstGeom>
          <a:noFill/>
        </p:spPr>
        <p:txBody>
          <a:bodyPr wrap="none" rtlCol="0">
            <a:spAutoFit/>
          </a:bodyPr>
          <a:lstStyle/>
          <a:p>
            <a:r>
              <a:rPr lang="en-US" sz="3200" dirty="0"/>
              <a:t>Building the Boom Arm Extracellular Electrode Holder</a:t>
            </a:r>
          </a:p>
        </p:txBody>
      </p:sp>
      <p:sp>
        <p:nvSpPr>
          <p:cNvPr id="5" name="TextBox 4">
            <a:extLst>
              <a:ext uri="{FF2B5EF4-FFF2-40B4-BE49-F238E27FC236}">
                <a16:creationId xmlns:a16="http://schemas.microsoft.com/office/drawing/2014/main" id="{EE199234-ECC8-72C1-2667-864788416E75}"/>
              </a:ext>
            </a:extLst>
          </p:cNvPr>
          <p:cNvSpPr txBox="1"/>
          <p:nvPr/>
        </p:nvSpPr>
        <p:spPr>
          <a:xfrm>
            <a:off x="325658" y="6370603"/>
            <a:ext cx="3761607" cy="276999"/>
          </a:xfrm>
          <a:prstGeom prst="rect">
            <a:avLst/>
          </a:prstGeom>
          <a:noFill/>
        </p:spPr>
        <p:txBody>
          <a:bodyPr wrap="none" rtlCol="0">
            <a:spAutoFit/>
          </a:bodyPr>
          <a:lstStyle/>
          <a:p>
            <a:r>
              <a:rPr lang="en-US" sz="1200" dirty="0"/>
              <a:t>Designed by Dr. James Ryan for the </a:t>
            </a:r>
            <a:r>
              <a:rPr lang="en-US" sz="1200" dirty="0" err="1"/>
              <a:t>CrawFly</a:t>
            </a:r>
            <a:r>
              <a:rPr lang="en-US" sz="1200" dirty="0"/>
              <a:t> Collective</a:t>
            </a:r>
          </a:p>
        </p:txBody>
      </p:sp>
    </p:spTree>
    <p:extLst>
      <p:ext uri="{BB962C8B-B14F-4D97-AF65-F5344CB8AC3E}">
        <p14:creationId xmlns:p14="http://schemas.microsoft.com/office/powerpoint/2010/main" val="1153517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12D27-78BB-45A4-2BAE-15B62ED4483D}"/>
            </a:ext>
          </a:extLst>
        </p:cNvPr>
        <p:cNvGrpSpPr/>
        <p:nvPr/>
      </p:nvGrpSpPr>
      <p:grpSpPr>
        <a:xfrm>
          <a:off x="0" y="0"/>
          <a:ext cx="0" cy="0"/>
          <a:chOff x="0" y="0"/>
          <a:chExt cx="0" cy="0"/>
        </a:xfrm>
      </p:grpSpPr>
      <p:pic>
        <p:nvPicPr>
          <p:cNvPr id="15" name="Picture 14" descr="A close-up of different types of mechanical parts&#10;&#10;AI-generated content may be incorrect.">
            <a:extLst>
              <a:ext uri="{FF2B5EF4-FFF2-40B4-BE49-F238E27FC236}">
                <a16:creationId xmlns:a16="http://schemas.microsoft.com/office/drawing/2014/main" id="{08AFC2CD-12DC-3056-3E24-E65825F26325}"/>
              </a:ext>
            </a:extLst>
          </p:cNvPr>
          <p:cNvPicPr>
            <a:picLocks noChangeAspect="1"/>
          </p:cNvPicPr>
          <p:nvPr/>
        </p:nvPicPr>
        <p:blipFill>
          <a:blip r:embed="rId2"/>
          <a:stretch>
            <a:fillRect/>
          </a:stretch>
        </p:blipFill>
        <p:spPr>
          <a:xfrm>
            <a:off x="960664" y="1539911"/>
            <a:ext cx="5067300" cy="3581400"/>
          </a:xfrm>
          <a:prstGeom prst="rect">
            <a:avLst/>
          </a:prstGeom>
        </p:spPr>
      </p:pic>
      <p:sp>
        <p:nvSpPr>
          <p:cNvPr id="2" name="TextBox 1">
            <a:extLst>
              <a:ext uri="{FF2B5EF4-FFF2-40B4-BE49-F238E27FC236}">
                <a16:creationId xmlns:a16="http://schemas.microsoft.com/office/drawing/2014/main" id="{6877CA39-43E4-4A12-0B6C-25D09246D1E5}"/>
              </a:ext>
            </a:extLst>
          </p:cNvPr>
          <p:cNvSpPr txBox="1"/>
          <p:nvPr/>
        </p:nvSpPr>
        <p:spPr>
          <a:xfrm>
            <a:off x="607081" y="543992"/>
            <a:ext cx="6101799" cy="461665"/>
          </a:xfrm>
          <a:prstGeom prst="rect">
            <a:avLst/>
          </a:prstGeom>
          <a:noFill/>
        </p:spPr>
        <p:txBody>
          <a:bodyPr wrap="none" rtlCol="0">
            <a:spAutoFit/>
          </a:bodyPr>
          <a:lstStyle/>
          <a:p>
            <a:r>
              <a:rPr lang="en-US" sz="2400" b="1" dirty="0">
                <a:solidFill>
                  <a:srgbClr val="941100"/>
                </a:solidFill>
              </a:rPr>
              <a:t>Step 1: 3D print the parts for the boom arm</a:t>
            </a:r>
          </a:p>
        </p:txBody>
      </p:sp>
      <p:sp>
        <p:nvSpPr>
          <p:cNvPr id="5" name="TextBox 4">
            <a:extLst>
              <a:ext uri="{FF2B5EF4-FFF2-40B4-BE49-F238E27FC236}">
                <a16:creationId xmlns:a16="http://schemas.microsoft.com/office/drawing/2014/main" id="{9CBEFC37-B4D6-EC7D-DF37-754612CFCAC1}"/>
              </a:ext>
            </a:extLst>
          </p:cNvPr>
          <p:cNvSpPr txBox="1"/>
          <p:nvPr/>
        </p:nvSpPr>
        <p:spPr>
          <a:xfrm>
            <a:off x="7442946" y="662748"/>
            <a:ext cx="4390465" cy="1754326"/>
          </a:xfrm>
          <a:prstGeom prst="rect">
            <a:avLst/>
          </a:prstGeom>
          <a:noFill/>
        </p:spPr>
        <p:txBody>
          <a:bodyPr wrap="square" rtlCol="0">
            <a:spAutoFit/>
          </a:bodyPr>
          <a:lstStyle/>
          <a:p>
            <a:pPr marL="285750" indent="-285750">
              <a:buFont typeface="Arial" panose="020B0604020202020204" pitchFamily="34" charset="0"/>
              <a:buChar char="•"/>
            </a:pPr>
            <a:r>
              <a:rPr lang="en-US" dirty="0"/>
              <a:t>Parts A, B, C must be printed with supports</a:t>
            </a:r>
          </a:p>
          <a:p>
            <a:pPr marL="285750" indent="-285750">
              <a:buFont typeface="Arial" panose="020B0604020202020204" pitchFamily="34" charset="0"/>
              <a:buChar char="•"/>
            </a:pPr>
            <a:r>
              <a:rPr lang="en-US" dirty="0"/>
              <a:t>Parts should be printed with at least 50% infill for strength and rigidity</a:t>
            </a:r>
          </a:p>
          <a:p>
            <a:pPr marL="285750" indent="-285750">
              <a:buFont typeface="Arial" panose="020B0604020202020204" pitchFamily="34" charset="0"/>
              <a:buChar char="•"/>
            </a:pPr>
            <a:r>
              <a:rPr lang="en-US" dirty="0"/>
              <a:t>The two screws (F) should be printed at 100% infill.</a:t>
            </a:r>
          </a:p>
        </p:txBody>
      </p:sp>
      <p:sp>
        <p:nvSpPr>
          <p:cNvPr id="6" name="TextBox 5">
            <a:extLst>
              <a:ext uri="{FF2B5EF4-FFF2-40B4-BE49-F238E27FC236}">
                <a16:creationId xmlns:a16="http://schemas.microsoft.com/office/drawing/2014/main" id="{FE40CB79-3B18-890A-A9AE-7BDD067FC048}"/>
              </a:ext>
            </a:extLst>
          </p:cNvPr>
          <p:cNvSpPr txBox="1"/>
          <p:nvPr/>
        </p:nvSpPr>
        <p:spPr>
          <a:xfrm>
            <a:off x="7624482" y="3160059"/>
            <a:ext cx="3914375" cy="1200329"/>
          </a:xfrm>
          <a:prstGeom prst="rect">
            <a:avLst/>
          </a:prstGeom>
          <a:noFill/>
        </p:spPr>
        <p:txBody>
          <a:bodyPr wrap="square" rtlCol="0">
            <a:spAutoFit/>
          </a:bodyPr>
          <a:lstStyle/>
          <a:p>
            <a:r>
              <a:rPr lang="en-US" dirty="0"/>
              <a:t>.</a:t>
            </a:r>
            <a:r>
              <a:rPr lang="en-US" dirty="0" err="1"/>
              <a:t>stl</a:t>
            </a:r>
            <a:r>
              <a:rPr lang="en-US" dirty="0"/>
              <a:t> files for the parts are available on our </a:t>
            </a:r>
            <a:r>
              <a:rPr lang="en-US" dirty="0" err="1"/>
              <a:t>GitHib</a:t>
            </a:r>
            <a:r>
              <a:rPr lang="en-US" dirty="0"/>
              <a:t> at:</a:t>
            </a:r>
          </a:p>
          <a:p>
            <a:r>
              <a:rPr lang="en-US" dirty="0">
                <a:hlinkClick r:id="rId3"/>
              </a:rPr>
              <a:t>https://</a:t>
            </a:r>
            <a:r>
              <a:rPr lang="en-US" dirty="0" err="1">
                <a:hlinkClick r:id="rId3"/>
              </a:rPr>
              <a:t>github.com</a:t>
            </a:r>
            <a:r>
              <a:rPr lang="en-US" dirty="0">
                <a:hlinkClick r:id="rId3"/>
              </a:rPr>
              <a:t>/</a:t>
            </a:r>
            <a:r>
              <a:rPr lang="en-US" dirty="0" err="1">
                <a:hlinkClick r:id="rId3"/>
              </a:rPr>
              <a:t>CrawFly</a:t>
            </a:r>
            <a:r>
              <a:rPr lang="en-US" dirty="0">
                <a:hlinkClick r:id="rId3"/>
              </a:rPr>
              <a:t>/DIY-Neuroscience</a:t>
            </a:r>
            <a:endParaRPr lang="en-US" dirty="0"/>
          </a:p>
        </p:txBody>
      </p:sp>
      <p:sp>
        <p:nvSpPr>
          <p:cNvPr id="7" name="TextBox 6">
            <a:extLst>
              <a:ext uri="{FF2B5EF4-FFF2-40B4-BE49-F238E27FC236}">
                <a16:creationId xmlns:a16="http://schemas.microsoft.com/office/drawing/2014/main" id="{CB73DEB6-8E19-D5D4-DD89-97A8EA8CBE41}"/>
              </a:ext>
            </a:extLst>
          </p:cNvPr>
          <p:cNvSpPr txBox="1"/>
          <p:nvPr/>
        </p:nvSpPr>
        <p:spPr>
          <a:xfrm>
            <a:off x="1701262" y="2338217"/>
            <a:ext cx="327334" cy="369332"/>
          </a:xfrm>
          <a:prstGeom prst="rect">
            <a:avLst/>
          </a:prstGeom>
          <a:noFill/>
        </p:spPr>
        <p:txBody>
          <a:bodyPr wrap="none" rtlCol="0">
            <a:spAutoFit/>
          </a:bodyPr>
          <a:lstStyle/>
          <a:p>
            <a:r>
              <a:rPr lang="en-US" b="1" dirty="0">
                <a:solidFill>
                  <a:srgbClr val="941100"/>
                </a:solidFill>
              </a:rPr>
              <a:t>A</a:t>
            </a:r>
          </a:p>
        </p:txBody>
      </p:sp>
      <p:sp>
        <p:nvSpPr>
          <p:cNvPr id="8" name="TextBox 7">
            <a:extLst>
              <a:ext uri="{FF2B5EF4-FFF2-40B4-BE49-F238E27FC236}">
                <a16:creationId xmlns:a16="http://schemas.microsoft.com/office/drawing/2014/main" id="{0DA9C437-00AD-C9AE-7214-0EC8DDF3B42E}"/>
              </a:ext>
            </a:extLst>
          </p:cNvPr>
          <p:cNvSpPr txBox="1"/>
          <p:nvPr/>
        </p:nvSpPr>
        <p:spPr>
          <a:xfrm>
            <a:off x="3166980" y="2417074"/>
            <a:ext cx="327334" cy="369332"/>
          </a:xfrm>
          <a:prstGeom prst="rect">
            <a:avLst/>
          </a:prstGeom>
          <a:noFill/>
        </p:spPr>
        <p:txBody>
          <a:bodyPr wrap="none" rtlCol="0">
            <a:spAutoFit/>
          </a:bodyPr>
          <a:lstStyle/>
          <a:p>
            <a:r>
              <a:rPr lang="en-US" b="1" dirty="0">
                <a:solidFill>
                  <a:srgbClr val="941100"/>
                </a:solidFill>
              </a:rPr>
              <a:t>B</a:t>
            </a:r>
          </a:p>
        </p:txBody>
      </p:sp>
      <p:sp>
        <p:nvSpPr>
          <p:cNvPr id="9" name="TextBox 8">
            <a:extLst>
              <a:ext uri="{FF2B5EF4-FFF2-40B4-BE49-F238E27FC236}">
                <a16:creationId xmlns:a16="http://schemas.microsoft.com/office/drawing/2014/main" id="{2F93F97D-73FD-FD04-5492-3BCA74B46A0D}"/>
              </a:ext>
            </a:extLst>
          </p:cNvPr>
          <p:cNvSpPr txBox="1"/>
          <p:nvPr/>
        </p:nvSpPr>
        <p:spPr>
          <a:xfrm>
            <a:off x="1683630" y="3332426"/>
            <a:ext cx="344966" cy="369332"/>
          </a:xfrm>
          <a:prstGeom prst="rect">
            <a:avLst/>
          </a:prstGeom>
          <a:noFill/>
        </p:spPr>
        <p:txBody>
          <a:bodyPr wrap="none" rtlCol="0">
            <a:spAutoFit/>
          </a:bodyPr>
          <a:lstStyle/>
          <a:p>
            <a:r>
              <a:rPr lang="en-US" b="1" dirty="0">
                <a:solidFill>
                  <a:srgbClr val="941100"/>
                </a:solidFill>
              </a:rPr>
              <a:t>C</a:t>
            </a:r>
          </a:p>
        </p:txBody>
      </p:sp>
      <p:sp>
        <p:nvSpPr>
          <p:cNvPr id="10" name="TextBox 9">
            <a:extLst>
              <a:ext uri="{FF2B5EF4-FFF2-40B4-BE49-F238E27FC236}">
                <a16:creationId xmlns:a16="http://schemas.microsoft.com/office/drawing/2014/main" id="{5A967249-8F91-8237-8712-ACF6A7B51662}"/>
              </a:ext>
            </a:extLst>
          </p:cNvPr>
          <p:cNvSpPr txBox="1"/>
          <p:nvPr/>
        </p:nvSpPr>
        <p:spPr>
          <a:xfrm>
            <a:off x="2028596" y="4818151"/>
            <a:ext cx="348172" cy="369332"/>
          </a:xfrm>
          <a:prstGeom prst="rect">
            <a:avLst/>
          </a:prstGeom>
          <a:noFill/>
        </p:spPr>
        <p:txBody>
          <a:bodyPr wrap="none" rtlCol="0">
            <a:spAutoFit/>
          </a:bodyPr>
          <a:lstStyle/>
          <a:p>
            <a:r>
              <a:rPr lang="en-US" b="1" dirty="0">
                <a:solidFill>
                  <a:srgbClr val="941100"/>
                </a:solidFill>
              </a:rPr>
              <a:t>D</a:t>
            </a:r>
          </a:p>
        </p:txBody>
      </p:sp>
      <p:sp>
        <p:nvSpPr>
          <p:cNvPr id="11" name="TextBox 10">
            <a:extLst>
              <a:ext uri="{FF2B5EF4-FFF2-40B4-BE49-F238E27FC236}">
                <a16:creationId xmlns:a16="http://schemas.microsoft.com/office/drawing/2014/main" id="{F01145EC-6B3D-CC9C-3430-CFF3359A6586}"/>
              </a:ext>
            </a:extLst>
          </p:cNvPr>
          <p:cNvSpPr txBox="1"/>
          <p:nvPr/>
        </p:nvSpPr>
        <p:spPr>
          <a:xfrm>
            <a:off x="3733007" y="4448819"/>
            <a:ext cx="312906" cy="369332"/>
          </a:xfrm>
          <a:prstGeom prst="rect">
            <a:avLst/>
          </a:prstGeom>
          <a:noFill/>
        </p:spPr>
        <p:txBody>
          <a:bodyPr wrap="none" rtlCol="0">
            <a:spAutoFit/>
          </a:bodyPr>
          <a:lstStyle/>
          <a:p>
            <a:r>
              <a:rPr lang="en-US" dirty="0"/>
              <a:t>E</a:t>
            </a:r>
          </a:p>
        </p:txBody>
      </p:sp>
      <p:sp>
        <p:nvSpPr>
          <p:cNvPr id="12" name="TextBox 11">
            <a:extLst>
              <a:ext uri="{FF2B5EF4-FFF2-40B4-BE49-F238E27FC236}">
                <a16:creationId xmlns:a16="http://schemas.microsoft.com/office/drawing/2014/main" id="{81F6D17F-399B-FE02-584E-903B961D1B38}"/>
              </a:ext>
            </a:extLst>
          </p:cNvPr>
          <p:cNvSpPr txBox="1"/>
          <p:nvPr/>
        </p:nvSpPr>
        <p:spPr>
          <a:xfrm>
            <a:off x="4283931" y="1539911"/>
            <a:ext cx="306494" cy="369332"/>
          </a:xfrm>
          <a:prstGeom prst="rect">
            <a:avLst/>
          </a:prstGeom>
          <a:noFill/>
        </p:spPr>
        <p:txBody>
          <a:bodyPr wrap="square" rtlCol="0">
            <a:spAutoFit/>
          </a:bodyPr>
          <a:lstStyle/>
          <a:p>
            <a:r>
              <a:rPr lang="en-US" b="1" dirty="0">
                <a:solidFill>
                  <a:srgbClr val="941100"/>
                </a:solidFill>
              </a:rPr>
              <a:t>F</a:t>
            </a:r>
          </a:p>
        </p:txBody>
      </p:sp>
      <p:sp>
        <p:nvSpPr>
          <p:cNvPr id="13" name="TextBox 12">
            <a:extLst>
              <a:ext uri="{FF2B5EF4-FFF2-40B4-BE49-F238E27FC236}">
                <a16:creationId xmlns:a16="http://schemas.microsoft.com/office/drawing/2014/main" id="{8535A1CD-B880-021D-BBF7-F4812F895DCB}"/>
              </a:ext>
            </a:extLst>
          </p:cNvPr>
          <p:cNvSpPr txBox="1"/>
          <p:nvPr/>
        </p:nvSpPr>
        <p:spPr>
          <a:xfrm>
            <a:off x="5155947" y="1539911"/>
            <a:ext cx="306494" cy="369332"/>
          </a:xfrm>
          <a:prstGeom prst="rect">
            <a:avLst/>
          </a:prstGeom>
          <a:noFill/>
        </p:spPr>
        <p:txBody>
          <a:bodyPr wrap="none" rtlCol="0">
            <a:spAutoFit/>
          </a:bodyPr>
          <a:lstStyle/>
          <a:p>
            <a:r>
              <a:rPr lang="en-US" b="1" dirty="0">
                <a:solidFill>
                  <a:srgbClr val="941100"/>
                </a:solidFill>
              </a:rPr>
              <a:t>F</a:t>
            </a:r>
          </a:p>
        </p:txBody>
      </p:sp>
      <p:sp>
        <p:nvSpPr>
          <p:cNvPr id="16" name="TextBox 15">
            <a:extLst>
              <a:ext uri="{FF2B5EF4-FFF2-40B4-BE49-F238E27FC236}">
                <a16:creationId xmlns:a16="http://schemas.microsoft.com/office/drawing/2014/main" id="{2B133DB4-6D8E-5598-ABC4-DAF42737C519}"/>
              </a:ext>
            </a:extLst>
          </p:cNvPr>
          <p:cNvSpPr txBox="1"/>
          <p:nvPr/>
        </p:nvSpPr>
        <p:spPr>
          <a:xfrm>
            <a:off x="5114269" y="4360388"/>
            <a:ext cx="348172" cy="369332"/>
          </a:xfrm>
          <a:prstGeom prst="rect">
            <a:avLst/>
          </a:prstGeom>
          <a:noFill/>
        </p:spPr>
        <p:txBody>
          <a:bodyPr wrap="none" rtlCol="0">
            <a:spAutoFit/>
          </a:bodyPr>
          <a:lstStyle/>
          <a:p>
            <a:r>
              <a:rPr lang="en-US" dirty="0"/>
              <a:t>G</a:t>
            </a:r>
          </a:p>
        </p:txBody>
      </p:sp>
    </p:spTree>
    <p:extLst>
      <p:ext uri="{BB962C8B-B14F-4D97-AF65-F5344CB8AC3E}">
        <p14:creationId xmlns:p14="http://schemas.microsoft.com/office/powerpoint/2010/main" val="11639758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CE110-0BD7-5509-65F8-AD2D2FF0E77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8D29447-632B-F283-9587-E6B43959B555}"/>
              </a:ext>
            </a:extLst>
          </p:cNvPr>
          <p:cNvSpPr txBox="1"/>
          <p:nvPr/>
        </p:nvSpPr>
        <p:spPr>
          <a:xfrm>
            <a:off x="925286" y="664029"/>
            <a:ext cx="4318939" cy="523220"/>
          </a:xfrm>
          <a:prstGeom prst="rect">
            <a:avLst/>
          </a:prstGeom>
          <a:noFill/>
        </p:spPr>
        <p:txBody>
          <a:bodyPr wrap="none" rtlCol="0">
            <a:spAutoFit/>
          </a:bodyPr>
          <a:lstStyle/>
          <a:p>
            <a:r>
              <a:rPr lang="en-US" sz="2800" b="1" dirty="0">
                <a:solidFill>
                  <a:srgbClr val="941100"/>
                </a:solidFill>
              </a:rPr>
              <a:t>Step 2: Prepare the base. </a:t>
            </a:r>
          </a:p>
        </p:txBody>
      </p:sp>
      <p:pic>
        <p:nvPicPr>
          <p:cNvPr id="4" name="Picture 3" descr="A black square with a black rectangular object next to a black rectangular object&#10;&#10;AI-generated content may be incorrect.">
            <a:extLst>
              <a:ext uri="{FF2B5EF4-FFF2-40B4-BE49-F238E27FC236}">
                <a16:creationId xmlns:a16="http://schemas.microsoft.com/office/drawing/2014/main" id="{60679815-BD93-8E35-0E4F-EC525EFED0BF}"/>
              </a:ext>
            </a:extLst>
          </p:cNvPr>
          <p:cNvPicPr>
            <a:picLocks noChangeAspect="1"/>
          </p:cNvPicPr>
          <p:nvPr/>
        </p:nvPicPr>
        <p:blipFill>
          <a:blip r:embed="rId2"/>
          <a:srcRect l="40748" t="21068" r="17936" b="19847"/>
          <a:stretch>
            <a:fillRect/>
          </a:stretch>
        </p:blipFill>
        <p:spPr>
          <a:xfrm rot="5400000">
            <a:off x="595228" y="1385405"/>
            <a:ext cx="2833418" cy="3039035"/>
          </a:xfrm>
          <a:prstGeom prst="rect">
            <a:avLst/>
          </a:prstGeom>
        </p:spPr>
      </p:pic>
      <p:sp>
        <p:nvSpPr>
          <p:cNvPr id="5" name="TextBox 4">
            <a:extLst>
              <a:ext uri="{FF2B5EF4-FFF2-40B4-BE49-F238E27FC236}">
                <a16:creationId xmlns:a16="http://schemas.microsoft.com/office/drawing/2014/main" id="{514EE9D4-E5DC-B9BB-F709-90ECCA222AE0}"/>
              </a:ext>
            </a:extLst>
          </p:cNvPr>
          <p:cNvSpPr txBox="1"/>
          <p:nvPr/>
        </p:nvSpPr>
        <p:spPr>
          <a:xfrm>
            <a:off x="5595257" y="859971"/>
            <a:ext cx="5943600" cy="2031325"/>
          </a:xfrm>
          <a:prstGeom prst="rect">
            <a:avLst/>
          </a:prstGeom>
          <a:noFill/>
        </p:spPr>
        <p:txBody>
          <a:bodyPr wrap="square" rtlCol="0">
            <a:spAutoFit/>
          </a:bodyPr>
          <a:lstStyle/>
          <a:p>
            <a:r>
              <a:rPr lang="en-US" dirty="0"/>
              <a:t>There are two options for bases:</a:t>
            </a:r>
          </a:p>
          <a:p>
            <a:endParaRPr lang="en-US" dirty="0"/>
          </a:p>
          <a:p>
            <a:r>
              <a:rPr lang="en-US" dirty="0"/>
              <a:t>1) A 4x4 inch sheet of 1/8th or ¼ inch steel plate.  Available at Lowes or Home Depot</a:t>
            </a:r>
          </a:p>
          <a:p>
            <a:endParaRPr lang="en-US" dirty="0"/>
          </a:p>
          <a:p>
            <a:r>
              <a:rPr lang="en-US" dirty="0"/>
              <a:t>2) An On-Off magnetic base (used if you have a steel table).</a:t>
            </a:r>
          </a:p>
        </p:txBody>
      </p:sp>
      <p:pic>
        <p:nvPicPr>
          <p:cNvPr id="7" name="Picture 6" descr="A black box with a black knob&#10;&#10;AI-generated content may be incorrect.">
            <a:extLst>
              <a:ext uri="{FF2B5EF4-FFF2-40B4-BE49-F238E27FC236}">
                <a16:creationId xmlns:a16="http://schemas.microsoft.com/office/drawing/2014/main" id="{444DCFDB-FD17-6A05-B6E9-CAD772CA1123}"/>
              </a:ext>
            </a:extLst>
          </p:cNvPr>
          <p:cNvPicPr>
            <a:picLocks noChangeAspect="1"/>
          </p:cNvPicPr>
          <p:nvPr/>
        </p:nvPicPr>
        <p:blipFill>
          <a:blip r:embed="rId3"/>
          <a:srcRect l="12540" t="21217" r="32381" b="17408"/>
          <a:stretch>
            <a:fillRect/>
          </a:stretch>
        </p:blipFill>
        <p:spPr>
          <a:xfrm rot="5400000">
            <a:off x="584092" y="4383210"/>
            <a:ext cx="2696239" cy="2253341"/>
          </a:xfrm>
          <a:prstGeom prst="rect">
            <a:avLst/>
          </a:prstGeom>
        </p:spPr>
      </p:pic>
      <p:sp>
        <p:nvSpPr>
          <p:cNvPr id="8" name="TextBox 7">
            <a:extLst>
              <a:ext uri="{FF2B5EF4-FFF2-40B4-BE49-F238E27FC236}">
                <a16:creationId xmlns:a16="http://schemas.microsoft.com/office/drawing/2014/main" id="{5C374ED1-FBEE-8366-3CD9-33988D87C285}"/>
              </a:ext>
            </a:extLst>
          </p:cNvPr>
          <p:cNvSpPr txBox="1"/>
          <p:nvPr/>
        </p:nvSpPr>
        <p:spPr>
          <a:xfrm>
            <a:off x="653143" y="1774371"/>
            <a:ext cx="308098" cy="369332"/>
          </a:xfrm>
          <a:prstGeom prst="rect">
            <a:avLst/>
          </a:prstGeom>
          <a:noFill/>
        </p:spPr>
        <p:txBody>
          <a:bodyPr wrap="none" rtlCol="0">
            <a:spAutoFit/>
          </a:bodyPr>
          <a:lstStyle/>
          <a:p>
            <a:r>
              <a:rPr lang="en-US" dirty="0"/>
              <a:t>1</a:t>
            </a:r>
          </a:p>
        </p:txBody>
      </p:sp>
      <p:sp>
        <p:nvSpPr>
          <p:cNvPr id="9" name="TextBox 8">
            <a:extLst>
              <a:ext uri="{FF2B5EF4-FFF2-40B4-BE49-F238E27FC236}">
                <a16:creationId xmlns:a16="http://schemas.microsoft.com/office/drawing/2014/main" id="{8BA3B619-F8C4-9D0A-CCFA-4029B675AE6C}"/>
              </a:ext>
            </a:extLst>
          </p:cNvPr>
          <p:cNvSpPr txBox="1"/>
          <p:nvPr/>
        </p:nvSpPr>
        <p:spPr>
          <a:xfrm>
            <a:off x="807192" y="4447919"/>
            <a:ext cx="308098" cy="369332"/>
          </a:xfrm>
          <a:prstGeom prst="rect">
            <a:avLst/>
          </a:prstGeom>
          <a:noFill/>
        </p:spPr>
        <p:txBody>
          <a:bodyPr wrap="none" rtlCol="0">
            <a:spAutoFit/>
          </a:bodyPr>
          <a:lstStyle/>
          <a:p>
            <a:r>
              <a:rPr lang="en-US" dirty="0"/>
              <a:t>2</a:t>
            </a:r>
          </a:p>
        </p:txBody>
      </p:sp>
      <p:sp>
        <p:nvSpPr>
          <p:cNvPr id="10" name="TextBox 9">
            <a:extLst>
              <a:ext uri="{FF2B5EF4-FFF2-40B4-BE49-F238E27FC236}">
                <a16:creationId xmlns:a16="http://schemas.microsoft.com/office/drawing/2014/main" id="{E9E1CF6F-6F63-9679-DEFC-390C7CAE6D20}"/>
              </a:ext>
            </a:extLst>
          </p:cNvPr>
          <p:cNvSpPr txBox="1"/>
          <p:nvPr/>
        </p:nvSpPr>
        <p:spPr>
          <a:xfrm>
            <a:off x="6302828" y="2521964"/>
            <a:ext cx="4517572" cy="646331"/>
          </a:xfrm>
          <a:prstGeom prst="rect">
            <a:avLst/>
          </a:prstGeom>
          <a:noFill/>
        </p:spPr>
        <p:txBody>
          <a:bodyPr wrap="square" rtlCol="0">
            <a:spAutoFit/>
          </a:bodyPr>
          <a:lstStyle/>
          <a:p>
            <a:r>
              <a:rPr lang="en-US" dirty="0"/>
              <a:t>Can be purchased from Harbor Freight for ~$13.00 US</a:t>
            </a:r>
          </a:p>
        </p:txBody>
      </p:sp>
    </p:spTree>
    <p:extLst>
      <p:ext uri="{BB962C8B-B14F-4D97-AF65-F5344CB8AC3E}">
        <p14:creationId xmlns:p14="http://schemas.microsoft.com/office/powerpoint/2010/main" val="4195339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F4883-CA59-C212-22FA-A09CFC5E28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314C7AB-B2FE-D777-B253-C15FADFE543E}"/>
              </a:ext>
            </a:extLst>
          </p:cNvPr>
          <p:cNvSpPr txBox="1"/>
          <p:nvPr/>
        </p:nvSpPr>
        <p:spPr>
          <a:xfrm>
            <a:off x="564136" y="589110"/>
            <a:ext cx="10354235" cy="646331"/>
          </a:xfrm>
          <a:prstGeom prst="rect">
            <a:avLst/>
          </a:prstGeom>
          <a:noFill/>
        </p:spPr>
        <p:txBody>
          <a:bodyPr wrap="square" rtlCol="0">
            <a:spAutoFit/>
          </a:bodyPr>
          <a:lstStyle/>
          <a:p>
            <a:r>
              <a:rPr lang="en-US" b="1" dirty="0">
                <a:solidFill>
                  <a:srgbClr val="941100"/>
                </a:solidFill>
              </a:rPr>
              <a:t>Step 3:  Superglue 3d printed part E to the center of either the steel plate or the top of the magnetic base.</a:t>
            </a:r>
          </a:p>
        </p:txBody>
      </p:sp>
      <p:sp>
        <p:nvSpPr>
          <p:cNvPr id="5" name="TextBox 4">
            <a:extLst>
              <a:ext uri="{FF2B5EF4-FFF2-40B4-BE49-F238E27FC236}">
                <a16:creationId xmlns:a16="http://schemas.microsoft.com/office/drawing/2014/main" id="{6B3330EC-644D-2BC1-6958-B32E1BE674FB}"/>
              </a:ext>
            </a:extLst>
          </p:cNvPr>
          <p:cNvSpPr txBox="1"/>
          <p:nvPr/>
        </p:nvSpPr>
        <p:spPr>
          <a:xfrm>
            <a:off x="564136" y="1393371"/>
            <a:ext cx="4977132" cy="369332"/>
          </a:xfrm>
          <a:prstGeom prst="rect">
            <a:avLst/>
          </a:prstGeom>
          <a:noFill/>
        </p:spPr>
        <p:txBody>
          <a:bodyPr wrap="none" rtlCol="0">
            <a:spAutoFit/>
          </a:bodyPr>
          <a:lstStyle/>
          <a:p>
            <a:r>
              <a:rPr lang="en-US" b="1" dirty="0">
                <a:solidFill>
                  <a:srgbClr val="941100"/>
                </a:solidFill>
              </a:rPr>
              <a:t>Step 4: Prepare the two x-y microscope stages</a:t>
            </a:r>
          </a:p>
        </p:txBody>
      </p:sp>
      <p:pic>
        <p:nvPicPr>
          <p:cNvPr id="7" name="Picture 6" descr="A pair of black and silver measuring devices&#10;&#10;AI-generated content may be incorrect.">
            <a:extLst>
              <a:ext uri="{FF2B5EF4-FFF2-40B4-BE49-F238E27FC236}">
                <a16:creationId xmlns:a16="http://schemas.microsoft.com/office/drawing/2014/main" id="{A1A4D75C-3579-35CE-10C9-C6FE849BBA44}"/>
              </a:ext>
            </a:extLst>
          </p:cNvPr>
          <p:cNvPicPr>
            <a:picLocks noChangeAspect="1"/>
          </p:cNvPicPr>
          <p:nvPr/>
        </p:nvPicPr>
        <p:blipFill>
          <a:blip r:embed="rId2"/>
          <a:srcRect l="9739" t="20674" r="16144" b="20457"/>
          <a:stretch>
            <a:fillRect/>
          </a:stretch>
        </p:blipFill>
        <p:spPr>
          <a:xfrm>
            <a:off x="820271" y="2067412"/>
            <a:ext cx="5082988" cy="3027886"/>
          </a:xfrm>
          <a:prstGeom prst="rect">
            <a:avLst/>
          </a:prstGeom>
        </p:spPr>
      </p:pic>
      <p:sp>
        <p:nvSpPr>
          <p:cNvPr id="8" name="TextBox 7">
            <a:extLst>
              <a:ext uri="{FF2B5EF4-FFF2-40B4-BE49-F238E27FC236}">
                <a16:creationId xmlns:a16="http://schemas.microsoft.com/office/drawing/2014/main" id="{8A9C6C83-5D74-A10A-AE2F-401D7F9165C9}"/>
              </a:ext>
            </a:extLst>
          </p:cNvPr>
          <p:cNvSpPr txBox="1"/>
          <p:nvPr/>
        </p:nvSpPr>
        <p:spPr>
          <a:xfrm>
            <a:off x="6696635" y="2191871"/>
            <a:ext cx="4675094" cy="923330"/>
          </a:xfrm>
          <a:prstGeom prst="rect">
            <a:avLst/>
          </a:prstGeom>
          <a:noFill/>
        </p:spPr>
        <p:txBody>
          <a:bodyPr wrap="square" rtlCol="0">
            <a:spAutoFit/>
          </a:bodyPr>
          <a:lstStyle/>
          <a:p>
            <a:r>
              <a:rPr lang="en-US" dirty="0"/>
              <a:t>Begin by removing the slide holders from the top and the scales from the top and bottom sections as shown on the right</a:t>
            </a:r>
          </a:p>
        </p:txBody>
      </p:sp>
    </p:spTree>
    <p:extLst>
      <p:ext uri="{BB962C8B-B14F-4D97-AF65-F5344CB8AC3E}">
        <p14:creationId xmlns:p14="http://schemas.microsoft.com/office/powerpoint/2010/main" val="1722582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E329A-42C2-677C-69AB-CF89C34B6FE8}"/>
            </a:ext>
          </a:extLst>
        </p:cNvPr>
        <p:cNvGrpSpPr/>
        <p:nvPr/>
      </p:nvGrpSpPr>
      <p:grpSpPr>
        <a:xfrm>
          <a:off x="0" y="0"/>
          <a:ext cx="0" cy="0"/>
          <a:chOff x="0" y="0"/>
          <a:chExt cx="0" cy="0"/>
        </a:xfrm>
      </p:grpSpPr>
      <p:pic>
        <p:nvPicPr>
          <p:cNvPr id="3" name="Picture 2" descr="A pair of black metal objects&#10;&#10;AI-generated content may be incorrect.">
            <a:extLst>
              <a:ext uri="{FF2B5EF4-FFF2-40B4-BE49-F238E27FC236}">
                <a16:creationId xmlns:a16="http://schemas.microsoft.com/office/drawing/2014/main" id="{CB625A22-3B9A-91CE-22FE-5B946BAD9E3C}"/>
              </a:ext>
            </a:extLst>
          </p:cNvPr>
          <p:cNvPicPr>
            <a:picLocks noChangeAspect="1"/>
          </p:cNvPicPr>
          <p:nvPr/>
        </p:nvPicPr>
        <p:blipFill>
          <a:blip r:embed="rId2"/>
          <a:srcRect l="7339" t="19839" r="11240" b="23182"/>
          <a:stretch>
            <a:fillRect/>
          </a:stretch>
        </p:blipFill>
        <p:spPr>
          <a:xfrm>
            <a:off x="726141" y="1395932"/>
            <a:ext cx="6266330" cy="3321425"/>
          </a:xfrm>
          <a:prstGeom prst="rect">
            <a:avLst/>
          </a:prstGeom>
        </p:spPr>
      </p:pic>
      <p:sp>
        <p:nvSpPr>
          <p:cNvPr id="4" name="TextBox 3">
            <a:extLst>
              <a:ext uri="{FF2B5EF4-FFF2-40B4-BE49-F238E27FC236}">
                <a16:creationId xmlns:a16="http://schemas.microsoft.com/office/drawing/2014/main" id="{8F1A374A-875C-8CEB-ABE5-3454F9D9AD6D}"/>
              </a:ext>
            </a:extLst>
          </p:cNvPr>
          <p:cNvSpPr txBox="1"/>
          <p:nvPr/>
        </p:nvSpPr>
        <p:spPr>
          <a:xfrm>
            <a:off x="726141" y="591671"/>
            <a:ext cx="7982313" cy="369332"/>
          </a:xfrm>
          <a:prstGeom prst="rect">
            <a:avLst/>
          </a:prstGeom>
          <a:noFill/>
        </p:spPr>
        <p:txBody>
          <a:bodyPr wrap="none" rtlCol="0">
            <a:spAutoFit/>
          </a:bodyPr>
          <a:lstStyle/>
          <a:p>
            <a:r>
              <a:rPr lang="en-US" b="1" dirty="0">
                <a:solidFill>
                  <a:srgbClr val="941100"/>
                </a:solidFill>
              </a:rPr>
              <a:t>Step 5: Remove the x axis from the y axis by removing the two sliver screws </a:t>
            </a:r>
          </a:p>
        </p:txBody>
      </p:sp>
      <p:sp>
        <p:nvSpPr>
          <p:cNvPr id="5" name="TextBox 4">
            <a:extLst>
              <a:ext uri="{FF2B5EF4-FFF2-40B4-BE49-F238E27FC236}">
                <a16:creationId xmlns:a16="http://schemas.microsoft.com/office/drawing/2014/main" id="{96E6AAF9-0464-A44B-30EB-3F2DC8E8A44A}"/>
              </a:ext>
            </a:extLst>
          </p:cNvPr>
          <p:cNvSpPr txBox="1"/>
          <p:nvPr/>
        </p:nvSpPr>
        <p:spPr>
          <a:xfrm>
            <a:off x="7554686" y="1796143"/>
            <a:ext cx="4386943" cy="1754326"/>
          </a:xfrm>
          <a:prstGeom prst="rect">
            <a:avLst/>
          </a:prstGeom>
          <a:noFill/>
        </p:spPr>
        <p:txBody>
          <a:bodyPr wrap="square" rtlCol="0">
            <a:spAutoFit/>
          </a:bodyPr>
          <a:lstStyle/>
          <a:p>
            <a:r>
              <a:rPr lang="en-US" dirty="0"/>
              <a:t>At this point you should have 2 x-axis parts that look like the one on the right in this photo.</a:t>
            </a:r>
          </a:p>
          <a:p>
            <a:endParaRPr lang="en-US" dirty="0"/>
          </a:p>
          <a:p>
            <a:r>
              <a:rPr lang="en-US" dirty="0"/>
              <a:t>You should also have 2 of the y-axis components (used later).</a:t>
            </a:r>
          </a:p>
        </p:txBody>
      </p:sp>
    </p:spTree>
    <p:extLst>
      <p:ext uri="{BB962C8B-B14F-4D97-AF65-F5344CB8AC3E}">
        <p14:creationId xmlns:p14="http://schemas.microsoft.com/office/powerpoint/2010/main" val="11945325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EDF26-A266-F871-0C3D-1CEC1AF50B6F}"/>
            </a:ext>
          </a:extLst>
        </p:cNvPr>
        <p:cNvGrpSpPr/>
        <p:nvPr/>
      </p:nvGrpSpPr>
      <p:grpSpPr>
        <a:xfrm>
          <a:off x="0" y="0"/>
          <a:ext cx="0" cy="0"/>
          <a:chOff x="0" y="0"/>
          <a:chExt cx="0" cy="0"/>
        </a:xfrm>
      </p:grpSpPr>
      <p:pic>
        <p:nvPicPr>
          <p:cNvPr id="5" name="Picture 4" descr="A black metal piece of furniture&#10;&#10;AI-generated content may be incorrect.">
            <a:extLst>
              <a:ext uri="{FF2B5EF4-FFF2-40B4-BE49-F238E27FC236}">
                <a16:creationId xmlns:a16="http://schemas.microsoft.com/office/drawing/2014/main" id="{E32352B4-09AF-A1DE-DCE0-7A96F7C52836}"/>
              </a:ext>
            </a:extLst>
          </p:cNvPr>
          <p:cNvPicPr>
            <a:picLocks noChangeAspect="1"/>
          </p:cNvPicPr>
          <p:nvPr/>
        </p:nvPicPr>
        <p:blipFill>
          <a:blip r:embed="rId2"/>
          <a:srcRect l="28835" r="16667" b="7586"/>
          <a:stretch>
            <a:fillRect/>
          </a:stretch>
        </p:blipFill>
        <p:spPr>
          <a:xfrm rot="5400000">
            <a:off x="1275229" y="1371601"/>
            <a:ext cx="4235823" cy="5405718"/>
          </a:xfrm>
          <a:prstGeom prst="rect">
            <a:avLst/>
          </a:prstGeom>
        </p:spPr>
      </p:pic>
      <p:sp>
        <p:nvSpPr>
          <p:cNvPr id="6" name="TextBox 5">
            <a:extLst>
              <a:ext uri="{FF2B5EF4-FFF2-40B4-BE49-F238E27FC236}">
                <a16:creationId xmlns:a16="http://schemas.microsoft.com/office/drawing/2014/main" id="{A77970A6-890F-545F-BDA1-F2A908C45CFB}"/>
              </a:ext>
            </a:extLst>
          </p:cNvPr>
          <p:cNvSpPr txBox="1"/>
          <p:nvPr/>
        </p:nvSpPr>
        <p:spPr>
          <a:xfrm>
            <a:off x="690281" y="712694"/>
            <a:ext cx="9750746" cy="369332"/>
          </a:xfrm>
          <a:prstGeom prst="rect">
            <a:avLst/>
          </a:prstGeom>
          <a:noFill/>
        </p:spPr>
        <p:txBody>
          <a:bodyPr wrap="none" rtlCol="0">
            <a:spAutoFit/>
          </a:bodyPr>
          <a:lstStyle/>
          <a:p>
            <a:r>
              <a:rPr lang="en-US" b="1" dirty="0">
                <a:solidFill>
                  <a:srgbClr val="941100"/>
                </a:solidFill>
              </a:rPr>
              <a:t>Step 6: Using a hacksaw or band saw, cut the left side of the x-axis off as shown in the photo.</a:t>
            </a:r>
          </a:p>
        </p:txBody>
      </p:sp>
      <p:sp>
        <p:nvSpPr>
          <p:cNvPr id="7" name="TextBox 6">
            <a:extLst>
              <a:ext uri="{FF2B5EF4-FFF2-40B4-BE49-F238E27FC236}">
                <a16:creationId xmlns:a16="http://schemas.microsoft.com/office/drawing/2014/main" id="{4B810D8B-6730-22DE-A0E1-A85BA6E49F74}"/>
              </a:ext>
            </a:extLst>
          </p:cNvPr>
          <p:cNvSpPr txBox="1"/>
          <p:nvPr/>
        </p:nvSpPr>
        <p:spPr>
          <a:xfrm>
            <a:off x="6599671" y="1956548"/>
            <a:ext cx="4902048" cy="369332"/>
          </a:xfrm>
          <a:prstGeom prst="rect">
            <a:avLst/>
          </a:prstGeom>
          <a:noFill/>
        </p:spPr>
        <p:txBody>
          <a:bodyPr wrap="none" rtlCol="0">
            <a:spAutoFit/>
          </a:bodyPr>
          <a:lstStyle/>
          <a:p>
            <a:r>
              <a:rPr lang="en-US" dirty="0"/>
              <a:t>Repeat this process for both x-axis components</a:t>
            </a:r>
          </a:p>
        </p:txBody>
      </p:sp>
      <p:pic>
        <p:nvPicPr>
          <p:cNvPr id="9" name="Picture 8" descr="A pair of black metal objects&#10;&#10;AI-generated content may be incorrect.">
            <a:extLst>
              <a:ext uri="{FF2B5EF4-FFF2-40B4-BE49-F238E27FC236}">
                <a16:creationId xmlns:a16="http://schemas.microsoft.com/office/drawing/2014/main" id="{5CF7C407-9FCF-BD96-CE2A-88A4023196D0}"/>
              </a:ext>
            </a:extLst>
          </p:cNvPr>
          <p:cNvPicPr>
            <a:picLocks noChangeAspect="1"/>
          </p:cNvPicPr>
          <p:nvPr/>
        </p:nvPicPr>
        <p:blipFill>
          <a:blip r:embed="rId3"/>
          <a:srcRect l="25873" t="31799" r="20476" b="15079"/>
          <a:stretch>
            <a:fillRect/>
          </a:stretch>
        </p:blipFill>
        <p:spPr>
          <a:xfrm>
            <a:off x="7211007" y="3064331"/>
            <a:ext cx="3679375" cy="2732314"/>
          </a:xfrm>
          <a:prstGeom prst="rect">
            <a:avLst/>
          </a:prstGeom>
        </p:spPr>
      </p:pic>
    </p:spTree>
    <p:extLst>
      <p:ext uri="{BB962C8B-B14F-4D97-AF65-F5344CB8AC3E}">
        <p14:creationId xmlns:p14="http://schemas.microsoft.com/office/powerpoint/2010/main" val="2113113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2D374-F946-EE46-943D-CE745A2D32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F8A41C3-41ED-90E9-A9B1-BE67FDC051CD}"/>
              </a:ext>
            </a:extLst>
          </p:cNvPr>
          <p:cNvSpPr txBox="1"/>
          <p:nvPr/>
        </p:nvSpPr>
        <p:spPr>
          <a:xfrm>
            <a:off x="685800" y="511629"/>
            <a:ext cx="10091057" cy="646331"/>
          </a:xfrm>
          <a:prstGeom prst="rect">
            <a:avLst/>
          </a:prstGeom>
          <a:noFill/>
        </p:spPr>
        <p:txBody>
          <a:bodyPr wrap="square" rtlCol="0">
            <a:spAutoFit/>
          </a:bodyPr>
          <a:lstStyle/>
          <a:p>
            <a:r>
              <a:rPr lang="en-US" b="1" dirty="0">
                <a:solidFill>
                  <a:srgbClr val="941100"/>
                </a:solidFill>
              </a:rPr>
              <a:t>Step 7: Use superglue or epoxy to glue 3D printed part E to the center of the base (either the metal plate or the magnetic base).</a:t>
            </a:r>
          </a:p>
        </p:txBody>
      </p:sp>
      <p:sp>
        <p:nvSpPr>
          <p:cNvPr id="3" name="TextBox 2">
            <a:extLst>
              <a:ext uri="{FF2B5EF4-FFF2-40B4-BE49-F238E27FC236}">
                <a16:creationId xmlns:a16="http://schemas.microsoft.com/office/drawing/2014/main" id="{C3FA455D-1F93-A0AC-BF00-EDF7B130D302}"/>
              </a:ext>
            </a:extLst>
          </p:cNvPr>
          <p:cNvSpPr txBox="1"/>
          <p:nvPr/>
        </p:nvSpPr>
        <p:spPr>
          <a:xfrm>
            <a:off x="762001" y="1894114"/>
            <a:ext cx="5143501" cy="2031325"/>
          </a:xfrm>
          <a:prstGeom prst="rect">
            <a:avLst/>
          </a:prstGeom>
          <a:noFill/>
        </p:spPr>
        <p:txBody>
          <a:bodyPr wrap="square" rtlCol="0">
            <a:spAutoFit/>
          </a:bodyPr>
          <a:lstStyle/>
          <a:p>
            <a:r>
              <a:rPr lang="en-US" b="1" dirty="0">
                <a:solidFill>
                  <a:srgbClr val="941100"/>
                </a:solidFill>
              </a:rPr>
              <a:t>Step 8: Glue X-axis 1 to the top of block E keeping it in line with the long axis of block E</a:t>
            </a:r>
          </a:p>
          <a:p>
            <a:endParaRPr lang="en-US" b="1" dirty="0">
              <a:solidFill>
                <a:srgbClr val="941100"/>
              </a:solidFill>
            </a:endParaRPr>
          </a:p>
          <a:p>
            <a:r>
              <a:rPr lang="en-US" b="1" dirty="0">
                <a:solidFill>
                  <a:srgbClr val="941100"/>
                </a:solidFill>
              </a:rPr>
              <a:t>Step 9: Glue part G to the top of one of the x-axis components. It should be in line with the x-axis component. Be sure not to get glue into the moveable parts of the x-axis.</a:t>
            </a:r>
          </a:p>
        </p:txBody>
      </p:sp>
      <p:pic>
        <p:nvPicPr>
          <p:cNvPr id="5" name="Picture 4" descr="A black metal object with a black handle&#10;&#10;AI-generated content may be incorrect.">
            <a:extLst>
              <a:ext uri="{FF2B5EF4-FFF2-40B4-BE49-F238E27FC236}">
                <a16:creationId xmlns:a16="http://schemas.microsoft.com/office/drawing/2014/main" id="{8BD9D59B-8BDE-61CD-4668-63C9A7DFC969}"/>
              </a:ext>
            </a:extLst>
          </p:cNvPr>
          <p:cNvPicPr>
            <a:picLocks noChangeAspect="1"/>
          </p:cNvPicPr>
          <p:nvPr/>
        </p:nvPicPr>
        <p:blipFill>
          <a:blip r:embed="rId2"/>
          <a:srcRect l="16884" r="9207"/>
          <a:stretch>
            <a:fillRect/>
          </a:stretch>
        </p:blipFill>
        <p:spPr>
          <a:xfrm rot="5400000">
            <a:off x="6323915" y="1240286"/>
            <a:ext cx="5068669" cy="5143500"/>
          </a:xfrm>
          <a:prstGeom prst="rect">
            <a:avLst/>
          </a:prstGeom>
        </p:spPr>
      </p:pic>
      <p:sp>
        <p:nvSpPr>
          <p:cNvPr id="6" name="TextBox 5">
            <a:extLst>
              <a:ext uri="{FF2B5EF4-FFF2-40B4-BE49-F238E27FC236}">
                <a16:creationId xmlns:a16="http://schemas.microsoft.com/office/drawing/2014/main" id="{5816D461-2201-8D64-B3D5-32FC4A94AC1D}"/>
              </a:ext>
            </a:extLst>
          </p:cNvPr>
          <p:cNvSpPr txBox="1"/>
          <p:nvPr/>
        </p:nvSpPr>
        <p:spPr>
          <a:xfrm>
            <a:off x="8207829" y="4789714"/>
            <a:ext cx="389850" cy="523220"/>
          </a:xfrm>
          <a:prstGeom prst="rect">
            <a:avLst/>
          </a:prstGeom>
          <a:noFill/>
        </p:spPr>
        <p:txBody>
          <a:bodyPr wrap="none" rtlCol="0">
            <a:spAutoFit/>
          </a:bodyPr>
          <a:lstStyle/>
          <a:p>
            <a:r>
              <a:rPr lang="en-US" sz="2800" b="1" dirty="0">
                <a:solidFill>
                  <a:srgbClr val="FFFF00"/>
                </a:solidFill>
              </a:rPr>
              <a:t>E</a:t>
            </a:r>
          </a:p>
        </p:txBody>
      </p:sp>
      <p:sp>
        <p:nvSpPr>
          <p:cNvPr id="7" name="TextBox 6">
            <a:extLst>
              <a:ext uri="{FF2B5EF4-FFF2-40B4-BE49-F238E27FC236}">
                <a16:creationId xmlns:a16="http://schemas.microsoft.com/office/drawing/2014/main" id="{7A916900-91E6-FAF2-1551-243B4254ED2A}"/>
              </a:ext>
            </a:extLst>
          </p:cNvPr>
          <p:cNvSpPr txBox="1"/>
          <p:nvPr/>
        </p:nvSpPr>
        <p:spPr>
          <a:xfrm>
            <a:off x="8323672" y="3002110"/>
            <a:ext cx="348172" cy="369332"/>
          </a:xfrm>
          <a:prstGeom prst="rect">
            <a:avLst/>
          </a:prstGeom>
          <a:noFill/>
        </p:spPr>
        <p:txBody>
          <a:bodyPr wrap="none" rtlCol="0">
            <a:spAutoFit/>
          </a:bodyPr>
          <a:lstStyle/>
          <a:p>
            <a:r>
              <a:rPr lang="en-US" b="1" dirty="0">
                <a:solidFill>
                  <a:srgbClr val="FFFF00"/>
                </a:solidFill>
              </a:rPr>
              <a:t>G</a:t>
            </a:r>
          </a:p>
        </p:txBody>
      </p:sp>
      <p:sp>
        <p:nvSpPr>
          <p:cNvPr id="8" name="TextBox 7">
            <a:extLst>
              <a:ext uri="{FF2B5EF4-FFF2-40B4-BE49-F238E27FC236}">
                <a16:creationId xmlns:a16="http://schemas.microsoft.com/office/drawing/2014/main" id="{36104353-B3AD-1EB5-C029-1D90490CD0E5}"/>
              </a:ext>
            </a:extLst>
          </p:cNvPr>
          <p:cNvSpPr txBox="1"/>
          <p:nvPr/>
        </p:nvSpPr>
        <p:spPr>
          <a:xfrm>
            <a:off x="8177862" y="3895912"/>
            <a:ext cx="987963" cy="369332"/>
          </a:xfrm>
          <a:prstGeom prst="rect">
            <a:avLst/>
          </a:prstGeom>
          <a:noFill/>
        </p:spPr>
        <p:txBody>
          <a:bodyPr wrap="none" rtlCol="0">
            <a:spAutoFit/>
          </a:bodyPr>
          <a:lstStyle/>
          <a:p>
            <a:r>
              <a:rPr lang="en-US" b="1" dirty="0">
                <a:solidFill>
                  <a:srgbClr val="FFFF00"/>
                </a:solidFill>
              </a:rPr>
              <a:t>X-axis 1</a:t>
            </a:r>
          </a:p>
        </p:txBody>
      </p:sp>
      <p:sp>
        <p:nvSpPr>
          <p:cNvPr id="9" name="TextBox 8">
            <a:extLst>
              <a:ext uri="{FF2B5EF4-FFF2-40B4-BE49-F238E27FC236}">
                <a16:creationId xmlns:a16="http://schemas.microsoft.com/office/drawing/2014/main" id="{7C9F8F56-B897-C96A-CB9D-0A623800BB2E}"/>
              </a:ext>
            </a:extLst>
          </p:cNvPr>
          <p:cNvSpPr txBox="1"/>
          <p:nvPr/>
        </p:nvSpPr>
        <p:spPr>
          <a:xfrm>
            <a:off x="7908772" y="1955240"/>
            <a:ext cx="987963" cy="369332"/>
          </a:xfrm>
          <a:prstGeom prst="rect">
            <a:avLst/>
          </a:prstGeom>
          <a:noFill/>
        </p:spPr>
        <p:txBody>
          <a:bodyPr wrap="none" rtlCol="0">
            <a:spAutoFit/>
          </a:bodyPr>
          <a:lstStyle/>
          <a:p>
            <a:r>
              <a:rPr lang="en-US" b="1" dirty="0">
                <a:solidFill>
                  <a:srgbClr val="FFFF00"/>
                </a:solidFill>
              </a:rPr>
              <a:t>X-axis 2</a:t>
            </a:r>
          </a:p>
        </p:txBody>
      </p:sp>
      <p:sp>
        <p:nvSpPr>
          <p:cNvPr id="10" name="TextBox 9">
            <a:extLst>
              <a:ext uri="{FF2B5EF4-FFF2-40B4-BE49-F238E27FC236}">
                <a16:creationId xmlns:a16="http://schemas.microsoft.com/office/drawing/2014/main" id="{DE46229F-2AF4-4DC6-5BFE-502D4DE20FFF}"/>
              </a:ext>
            </a:extLst>
          </p:cNvPr>
          <p:cNvSpPr txBox="1"/>
          <p:nvPr/>
        </p:nvSpPr>
        <p:spPr>
          <a:xfrm>
            <a:off x="762000" y="4328049"/>
            <a:ext cx="4822371" cy="923330"/>
          </a:xfrm>
          <a:prstGeom prst="rect">
            <a:avLst/>
          </a:prstGeom>
          <a:noFill/>
        </p:spPr>
        <p:txBody>
          <a:bodyPr wrap="square" rtlCol="0">
            <a:spAutoFit/>
          </a:bodyPr>
          <a:lstStyle/>
          <a:p>
            <a:r>
              <a:rPr lang="en-US" b="1" dirty="0">
                <a:solidFill>
                  <a:srgbClr val="941100"/>
                </a:solidFill>
              </a:rPr>
              <a:t>Step 10: Glue x-axis 2 to part G so that the thumb screws are 90 degrees to x-axis 1 (see photo).</a:t>
            </a:r>
          </a:p>
        </p:txBody>
      </p:sp>
    </p:spTree>
    <p:extLst>
      <p:ext uri="{BB962C8B-B14F-4D97-AF65-F5344CB8AC3E}">
        <p14:creationId xmlns:p14="http://schemas.microsoft.com/office/powerpoint/2010/main" val="3905407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2619A-A9A3-4B3F-6734-C7AB4A32BB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EDC3B22-20C6-D7E4-B164-DAA1ECAB2F3C}"/>
              </a:ext>
            </a:extLst>
          </p:cNvPr>
          <p:cNvSpPr txBox="1"/>
          <p:nvPr/>
        </p:nvSpPr>
        <p:spPr>
          <a:xfrm>
            <a:off x="718457" y="478971"/>
            <a:ext cx="8860972" cy="646331"/>
          </a:xfrm>
          <a:prstGeom prst="rect">
            <a:avLst/>
          </a:prstGeom>
          <a:noFill/>
        </p:spPr>
        <p:txBody>
          <a:bodyPr wrap="square" rtlCol="0">
            <a:spAutoFit/>
          </a:bodyPr>
          <a:lstStyle/>
          <a:p>
            <a:r>
              <a:rPr lang="en-US" b="1" dirty="0">
                <a:solidFill>
                  <a:srgbClr val="941100"/>
                </a:solidFill>
              </a:rPr>
              <a:t>Step 10: Glue 3D printed part  A on top of x-axis 2. The center post with the hole should be in line with the x-axis component</a:t>
            </a:r>
          </a:p>
        </p:txBody>
      </p:sp>
      <p:pic>
        <p:nvPicPr>
          <p:cNvPr id="4" name="Picture 3" descr="A black and orange object on a metal surface&#10;&#10;AI-generated content may be incorrect.">
            <a:extLst>
              <a:ext uri="{FF2B5EF4-FFF2-40B4-BE49-F238E27FC236}">
                <a16:creationId xmlns:a16="http://schemas.microsoft.com/office/drawing/2014/main" id="{DE228A3D-489C-A752-71AC-F4D9E567B8B2}"/>
              </a:ext>
            </a:extLst>
          </p:cNvPr>
          <p:cNvPicPr>
            <a:picLocks noChangeAspect="1"/>
          </p:cNvPicPr>
          <p:nvPr/>
        </p:nvPicPr>
        <p:blipFill>
          <a:blip r:embed="rId2"/>
          <a:srcRect l="10159" r="14706"/>
          <a:stretch>
            <a:fillRect/>
          </a:stretch>
        </p:blipFill>
        <p:spPr>
          <a:xfrm rot="5400000">
            <a:off x="520913" y="1360235"/>
            <a:ext cx="5152785" cy="5143500"/>
          </a:xfrm>
          <a:prstGeom prst="rect">
            <a:avLst/>
          </a:prstGeom>
        </p:spPr>
      </p:pic>
      <p:sp>
        <p:nvSpPr>
          <p:cNvPr id="5" name="TextBox 4">
            <a:extLst>
              <a:ext uri="{FF2B5EF4-FFF2-40B4-BE49-F238E27FC236}">
                <a16:creationId xmlns:a16="http://schemas.microsoft.com/office/drawing/2014/main" id="{4FF4EC07-20B3-222F-00CC-BFC7089BD74F}"/>
              </a:ext>
            </a:extLst>
          </p:cNvPr>
          <p:cNvSpPr txBox="1"/>
          <p:nvPr/>
        </p:nvSpPr>
        <p:spPr>
          <a:xfrm>
            <a:off x="2624356" y="3429000"/>
            <a:ext cx="799386" cy="369332"/>
          </a:xfrm>
          <a:prstGeom prst="rect">
            <a:avLst/>
          </a:prstGeom>
          <a:noFill/>
        </p:spPr>
        <p:txBody>
          <a:bodyPr wrap="none" rtlCol="0">
            <a:spAutoFit/>
          </a:bodyPr>
          <a:lstStyle/>
          <a:p>
            <a:r>
              <a:rPr lang="en-US" b="1" dirty="0">
                <a:solidFill>
                  <a:srgbClr val="FFFF00"/>
                </a:solidFill>
              </a:rPr>
              <a:t>Part A</a:t>
            </a:r>
          </a:p>
        </p:txBody>
      </p:sp>
    </p:spTree>
    <p:extLst>
      <p:ext uri="{BB962C8B-B14F-4D97-AF65-F5344CB8AC3E}">
        <p14:creationId xmlns:p14="http://schemas.microsoft.com/office/powerpoint/2010/main" val="41631546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D7F28-9847-2CCA-B84B-315397C7C695}"/>
            </a:ext>
          </a:extLst>
        </p:cNvPr>
        <p:cNvGrpSpPr/>
        <p:nvPr/>
      </p:nvGrpSpPr>
      <p:grpSpPr>
        <a:xfrm>
          <a:off x="0" y="0"/>
          <a:ext cx="0" cy="0"/>
          <a:chOff x="0" y="0"/>
          <a:chExt cx="0" cy="0"/>
        </a:xfrm>
      </p:grpSpPr>
      <p:pic>
        <p:nvPicPr>
          <p:cNvPr id="3" name="Picture 2" descr="A black plastic object with a orange cap&#10;&#10;AI-generated content may be incorrect.">
            <a:extLst>
              <a:ext uri="{FF2B5EF4-FFF2-40B4-BE49-F238E27FC236}">
                <a16:creationId xmlns:a16="http://schemas.microsoft.com/office/drawing/2014/main" id="{48424354-C55B-090E-8B18-55C8CAB9B865}"/>
              </a:ext>
            </a:extLst>
          </p:cNvPr>
          <p:cNvPicPr>
            <a:picLocks noChangeAspect="1"/>
          </p:cNvPicPr>
          <p:nvPr/>
        </p:nvPicPr>
        <p:blipFill>
          <a:blip r:embed="rId2"/>
          <a:srcRect t="15686" b="15406"/>
          <a:stretch>
            <a:fillRect/>
          </a:stretch>
        </p:blipFill>
        <p:spPr>
          <a:xfrm>
            <a:off x="326571" y="2449286"/>
            <a:ext cx="7772400" cy="4016829"/>
          </a:xfrm>
          <a:prstGeom prst="rect">
            <a:avLst/>
          </a:prstGeom>
        </p:spPr>
      </p:pic>
      <p:pic>
        <p:nvPicPr>
          <p:cNvPr id="5" name="Picture 4" descr="A black and orange object on a metal surface&#10;&#10;AI-generated content may be incorrect.">
            <a:extLst>
              <a:ext uri="{FF2B5EF4-FFF2-40B4-BE49-F238E27FC236}">
                <a16:creationId xmlns:a16="http://schemas.microsoft.com/office/drawing/2014/main" id="{710B55C1-4CD2-6FE2-86BE-EB64B25D439C}"/>
              </a:ext>
            </a:extLst>
          </p:cNvPr>
          <p:cNvPicPr>
            <a:picLocks noChangeAspect="1"/>
          </p:cNvPicPr>
          <p:nvPr/>
        </p:nvPicPr>
        <p:blipFill>
          <a:blip r:embed="rId3"/>
          <a:srcRect t="18042" r="50000" b="8519"/>
          <a:stretch>
            <a:fillRect/>
          </a:stretch>
        </p:blipFill>
        <p:spPr>
          <a:xfrm rot="5400000">
            <a:off x="7815942" y="2721428"/>
            <a:ext cx="3429000" cy="3777344"/>
          </a:xfrm>
          <a:prstGeom prst="rect">
            <a:avLst/>
          </a:prstGeom>
        </p:spPr>
      </p:pic>
      <p:sp>
        <p:nvSpPr>
          <p:cNvPr id="6" name="TextBox 5">
            <a:extLst>
              <a:ext uri="{FF2B5EF4-FFF2-40B4-BE49-F238E27FC236}">
                <a16:creationId xmlns:a16="http://schemas.microsoft.com/office/drawing/2014/main" id="{CF2D2AAC-005B-9B52-E437-02B3770DD8BF}"/>
              </a:ext>
            </a:extLst>
          </p:cNvPr>
          <p:cNvSpPr txBox="1"/>
          <p:nvPr/>
        </p:nvSpPr>
        <p:spPr>
          <a:xfrm>
            <a:off x="500744" y="859971"/>
            <a:ext cx="10123714" cy="923330"/>
          </a:xfrm>
          <a:prstGeom prst="rect">
            <a:avLst/>
          </a:prstGeom>
          <a:noFill/>
        </p:spPr>
        <p:txBody>
          <a:bodyPr wrap="square" rtlCol="0">
            <a:spAutoFit/>
          </a:bodyPr>
          <a:lstStyle/>
          <a:p>
            <a:r>
              <a:rPr lang="en-US" dirty="0"/>
              <a:t>Step 11: Prepare 3D printed parts C, D, and F as shown below on the left. Place parts C and D over the upright section of part  A and thread the screw through the holes. Make sure part D locks into the boom arm and that the rough side of part D is against the rough side of part A.</a:t>
            </a:r>
          </a:p>
        </p:txBody>
      </p:sp>
      <p:sp>
        <p:nvSpPr>
          <p:cNvPr id="2" name="TextBox 1">
            <a:extLst>
              <a:ext uri="{FF2B5EF4-FFF2-40B4-BE49-F238E27FC236}">
                <a16:creationId xmlns:a16="http://schemas.microsoft.com/office/drawing/2014/main" id="{47A981ED-34BA-C07B-4D81-667A5509C4E8}"/>
              </a:ext>
            </a:extLst>
          </p:cNvPr>
          <p:cNvSpPr txBox="1"/>
          <p:nvPr/>
        </p:nvSpPr>
        <p:spPr>
          <a:xfrm>
            <a:off x="2690648" y="3429000"/>
            <a:ext cx="344966" cy="369332"/>
          </a:xfrm>
          <a:prstGeom prst="rect">
            <a:avLst/>
          </a:prstGeom>
          <a:noFill/>
        </p:spPr>
        <p:txBody>
          <a:bodyPr wrap="none" rtlCol="0">
            <a:spAutoFit/>
          </a:bodyPr>
          <a:lstStyle/>
          <a:p>
            <a:r>
              <a:rPr lang="en-US" dirty="0">
                <a:solidFill>
                  <a:schemeClr val="bg1"/>
                </a:solidFill>
              </a:rPr>
              <a:t>C</a:t>
            </a:r>
          </a:p>
        </p:txBody>
      </p:sp>
      <p:sp>
        <p:nvSpPr>
          <p:cNvPr id="4" name="TextBox 3">
            <a:extLst>
              <a:ext uri="{FF2B5EF4-FFF2-40B4-BE49-F238E27FC236}">
                <a16:creationId xmlns:a16="http://schemas.microsoft.com/office/drawing/2014/main" id="{4183ED96-CFE8-2E24-B229-0FD405CF5F06}"/>
              </a:ext>
            </a:extLst>
          </p:cNvPr>
          <p:cNvSpPr txBox="1"/>
          <p:nvPr/>
        </p:nvSpPr>
        <p:spPr>
          <a:xfrm>
            <a:off x="5562601" y="4078014"/>
            <a:ext cx="343364" cy="369332"/>
          </a:xfrm>
          <a:prstGeom prst="rect">
            <a:avLst/>
          </a:prstGeom>
          <a:noFill/>
        </p:spPr>
        <p:txBody>
          <a:bodyPr wrap="none" rtlCol="0">
            <a:spAutoFit/>
          </a:bodyPr>
          <a:lstStyle/>
          <a:p>
            <a:r>
              <a:rPr lang="en-US" dirty="0">
                <a:solidFill>
                  <a:schemeClr val="bg1"/>
                </a:solidFill>
              </a:rPr>
              <a:t>D</a:t>
            </a:r>
          </a:p>
        </p:txBody>
      </p:sp>
    </p:spTree>
    <p:extLst>
      <p:ext uri="{BB962C8B-B14F-4D97-AF65-F5344CB8AC3E}">
        <p14:creationId xmlns:p14="http://schemas.microsoft.com/office/powerpoint/2010/main" val="1590518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71D25-06D1-1113-2D08-AE8774FA34CA}"/>
            </a:ext>
          </a:extLst>
        </p:cNvPr>
        <p:cNvGrpSpPr/>
        <p:nvPr/>
      </p:nvGrpSpPr>
      <p:grpSpPr>
        <a:xfrm>
          <a:off x="0" y="0"/>
          <a:ext cx="0" cy="0"/>
          <a:chOff x="0" y="0"/>
          <a:chExt cx="0" cy="0"/>
        </a:xfrm>
      </p:grpSpPr>
      <p:pic>
        <p:nvPicPr>
          <p:cNvPr id="3" name="Picture 2" descr="A black and orange plastic arm with orange wheels&#10;&#10;AI-generated content may be incorrect.">
            <a:extLst>
              <a:ext uri="{FF2B5EF4-FFF2-40B4-BE49-F238E27FC236}">
                <a16:creationId xmlns:a16="http://schemas.microsoft.com/office/drawing/2014/main" id="{54442663-0F4D-8637-1414-74DD57DEE3D3}"/>
              </a:ext>
            </a:extLst>
          </p:cNvPr>
          <p:cNvPicPr>
            <a:picLocks noChangeAspect="1"/>
          </p:cNvPicPr>
          <p:nvPr/>
        </p:nvPicPr>
        <p:blipFill>
          <a:blip r:embed="rId2"/>
          <a:srcRect t="6079" b="13399"/>
          <a:stretch>
            <a:fillRect/>
          </a:stretch>
        </p:blipFill>
        <p:spPr>
          <a:xfrm>
            <a:off x="258535" y="2462531"/>
            <a:ext cx="6858000" cy="4141694"/>
          </a:xfrm>
          <a:prstGeom prst="rect">
            <a:avLst/>
          </a:prstGeom>
        </p:spPr>
      </p:pic>
      <p:sp>
        <p:nvSpPr>
          <p:cNvPr id="4" name="TextBox 3">
            <a:extLst>
              <a:ext uri="{FF2B5EF4-FFF2-40B4-BE49-F238E27FC236}">
                <a16:creationId xmlns:a16="http://schemas.microsoft.com/office/drawing/2014/main" id="{3D46256A-8672-9B71-DE16-857F7995E50B}"/>
              </a:ext>
            </a:extLst>
          </p:cNvPr>
          <p:cNvSpPr txBox="1"/>
          <p:nvPr/>
        </p:nvSpPr>
        <p:spPr>
          <a:xfrm>
            <a:off x="407895" y="658906"/>
            <a:ext cx="10995212" cy="646331"/>
          </a:xfrm>
          <a:prstGeom prst="rect">
            <a:avLst/>
          </a:prstGeom>
          <a:noFill/>
        </p:spPr>
        <p:txBody>
          <a:bodyPr wrap="square" rtlCol="0">
            <a:spAutoFit/>
          </a:bodyPr>
          <a:lstStyle/>
          <a:p>
            <a:r>
              <a:rPr lang="en-US" b="1" dirty="0">
                <a:solidFill>
                  <a:srgbClr val="941100"/>
                </a:solidFill>
              </a:rPr>
              <a:t>Step 12: Slide 3D printed part B over the end of the boom arm (part C) and thread the second screw (F) through the holes.</a:t>
            </a:r>
          </a:p>
        </p:txBody>
      </p:sp>
      <p:pic>
        <p:nvPicPr>
          <p:cNvPr id="6" name="Picture 5" descr="A black and orange metal object with a black handle&#10;&#10;AI-generated content may be incorrect.">
            <a:extLst>
              <a:ext uri="{FF2B5EF4-FFF2-40B4-BE49-F238E27FC236}">
                <a16:creationId xmlns:a16="http://schemas.microsoft.com/office/drawing/2014/main" id="{3B8F063E-E2C6-7CBE-0037-AFBDC962DDA9}"/>
              </a:ext>
            </a:extLst>
          </p:cNvPr>
          <p:cNvPicPr>
            <a:picLocks noChangeAspect="1"/>
          </p:cNvPicPr>
          <p:nvPr/>
        </p:nvPicPr>
        <p:blipFill>
          <a:blip r:embed="rId3"/>
          <a:srcRect l="19032" r="17302"/>
          <a:stretch>
            <a:fillRect/>
          </a:stretch>
        </p:blipFill>
        <p:spPr>
          <a:xfrm rot="5400000">
            <a:off x="7178603" y="1961628"/>
            <a:ext cx="4366223" cy="5143500"/>
          </a:xfrm>
          <a:prstGeom prst="rect">
            <a:avLst/>
          </a:prstGeom>
        </p:spPr>
      </p:pic>
      <p:sp>
        <p:nvSpPr>
          <p:cNvPr id="7" name="TextBox 6">
            <a:extLst>
              <a:ext uri="{FF2B5EF4-FFF2-40B4-BE49-F238E27FC236}">
                <a16:creationId xmlns:a16="http://schemas.microsoft.com/office/drawing/2014/main" id="{C38363D0-7DD4-63CC-F816-EEAA99E7B0CD}"/>
              </a:ext>
            </a:extLst>
          </p:cNvPr>
          <p:cNvSpPr txBox="1"/>
          <p:nvPr/>
        </p:nvSpPr>
        <p:spPr>
          <a:xfrm>
            <a:off x="407895" y="1480062"/>
            <a:ext cx="9067800" cy="646331"/>
          </a:xfrm>
          <a:prstGeom prst="rect">
            <a:avLst/>
          </a:prstGeom>
          <a:noFill/>
        </p:spPr>
        <p:txBody>
          <a:bodyPr wrap="square" rtlCol="0">
            <a:spAutoFit/>
          </a:bodyPr>
          <a:lstStyle/>
          <a:p>
            <a:r>
              <a:rPr lang="en-US" b="1" dirty="0">
                <a:solidFill>
                  <a:srgbClr val="941100"/>
                </a:solidFill>
              </a:rPr>
              <a:t>Step 13: Glue one of the y-axis components into the slot in part B. Be careful not to get glue into the mechanism</a:t>
            </a:r>
          </a:p>
        </p:txBody>
      </p:sp>
      <p:cxnSp>
        <p:nvCxnSpPr>
          <p:cNvPr id="9" name="Straight Arrow Connector 8">
            <a:extLst>
              <a:ext uri="{FF2B5EF4-FFF2-40B4-BE49-F238E27FC236}">
                <a16:creationId xmlns:a16="http://schemas.microsoft.com/office/drawing/2014/main" id="{41153F4B-EF80-7C81-3858-DA2C6F0589C8}"/>
              </a:ext>
            </a:extLst>
          </p:cNvPr>
          <p:cNvCxnSpPr/>
          <p:nvPr/>
        </p:nvCxnSpPr>
        <p:spPr>
          <a:xfrm>
            <a:off x="7979229" y="1926771"/>
            <a:ext cx="587828" cy="1807029"/>
          </a:xfrm>
          <a:prstGeom prst="straightConnector1">
            <a:avLst/>
          </a:prstGeom>
          <a:ln w="38100">
            <a:solidFill>
              <a:srgbClr val="9411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092759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574210-FC32-DE4A-8062-09985317BB7F}"/>
              </a:ext>
            </a:extLst>
          </p:cNvPr>
          <p:cNvSpPr txBox="1"/>
          <p:nvPr/>
        </p:nvSpPr>
        <p:spPr>
          <a:xfrm>
            <a:off x="709448" y="288597"/>
            <a:ext cx="3221395" cy="369332"/>
          </a:xfrm>
          <a:prstGeom prst="rect">
            <a:avLst/>
          </a:prstGeom>
          <a:noFill/>
        </p:spPr>
        <p:txBody>
          <a:bodyPr wrap="none" rtlCol="0">
            <a:spAutoFit/>
          </a:bodyPr>
          <a:lstStyle/>
          <a:p>
            <a:r>
              <a:rPr lang="en-US" b="1" dirty="0"/>
              <a:t>Assemble the Wire Electrode</a:t>
            </a:r>
          </a:p>
        </p:txBody>
      </p:sp>
      <p:pic>
        <p:nvPicPr>
          <p:cNvPr id="4" name="Picture 3">
            <a:extLst>
              <a:ext uri="{FF2B5EF4-FFF2-40B4-BE49-F238E27FC236}">
                <a16:creationId xmlns:a16="http://schemas.microsoft.com/office/drawing/2014/main" id="{66DD3AF2-F98C-F89A-09EC-C0CDF97BB9A6}"/>
              </a:ext>
            </a:extLst>
          </p:cNvPr>
          <p:cNvPicPr>
            <a:picLocks noChangeAspect="1"/>
          </p:cNvPicPr>
          <p:nvPr/>
        </p:nvPicPr>
        <p:blipFill>
          <a:blip r:embed="rId2"/>
          <a:stretch>
            <a:fillRect/>
          </a:stretch>
        </p:blipFill>
        <p:spPr>
          <a:xfrm>
            <a:off x="2736850" y="895350"/>
            <a:ext cx="5778500" cy="5067300"/>
          </a:xfrm>
          <a:prstGeom prst="rect">
            <a:avLst/>
          </a:prstGeom>
        </p:spPr>
      </p:pic>
      <p:sp>
        <p:nvSpPr>
          <p:cNvPr id="5" name="TextBox 4">
            <a:extLst>
              <a:ext uri="{FF2B5EF4-FFF2-40B4-BE49-F238E27FC236}">
                <a16:creationId xmlns:a16="http://schemas.microsoft.com/office/drawing/2014/main" id="{6CCD03CE-F56A-03D6-3742-D7FF7B7B4DA8}"/>
              </a:ext>
            </a:extLst>
          </p:cNvPr>
          <p:cNvSpPr txBox="1"/>
          <p:nvPr/>
        </p:nvSpPr>
        <p:spPr>
          <a:xfrm>
            <a:off x="6515100" y="3644900"/>
            <a:ext cx="320922" cy="369332"/>
          </a:xfrm>
          <a:prstGeom prst="rect">
            <a:avLst/>
          </a:prstGeom>
          <a:noFill/>
        </p:spPr>
        <p:txBody>
          <a:bodyPr wrap="none" rtlCol="0">
            <a:spAutoFit/>
          </a:bodyPr>
          <a:lstStyle/>
          <a:p>
            <a:r>
              <a:rPr lang="en-US" dirty="0"/>
              <a:t>A</a:t>
            </a:r>
          </a:p>
        </p:txBody>
      </p:sp>
      <p:sp>
        <p:nvSpPr>
          <p:cNvPr id="6" name="TextBox 5">
            <a:extLst>
              <a:ext uri="{FF2B5EF4-FFF2-40B4-BE49-F238E27FC236}">
                <a16:creationId xmlns:a16="http://schemas.microsoft.com/office/drawing/2014/main" id="{D724A7AD-55EA-5FEB-973A-FA0728EBC620}"/>
              </a:ext>
            </a:extLst>
          </p:cNvPr>
          <p:cNvSpPr txBox="1"/>
          <p:nvPr/>
        </p:nvSpPr>
        <p:spPr>
          <a:xfrm>
            <a:off x="5156200" y="3924300"/>
            <a:ext cx="324128" cy="369332"/>
          </a:xfrm>
          <a:prstGeom prst="rect">
            <a:avLst/>
          </a:prstGeom>
          <a:noFill/>
        </p:spPr>
        <p:txBody>
          <a:bodyPr wrap="none" rtlCol="0">
            <a:spAutoFit/>
          </a:bodyPr>
          <a:lstStyle/>
          <a:p>
            <a:r>
              <a:rPr lang="en-US" dirty="0"/>
              <a:t>B</a:t>
            </a:r>
          </a:p>
        </p:txBody>
      </p:sp>
      <p:sp>
        <p:nvSpPr>
          <p:cNvPr id="7" name="TextBox 6">
            <a:extLst>
              <a:ext uri="{FF2B5EF4-FFF2-40B4-BE49-F238E27FC236}">
                <a16:creationId xmlns:a16="http://schemas.microsoft.com/office/drawing/2014/main" id="{8C42B9F8-3F01-A993-47C6-EFAF2979C46C}"/>
              </a:ext>
            </a:extLst>
          </p:cNvPr>
          <p:cNvSpPr txBox="1"/>
          <p:nvPr/>
        </p:nvSpPr>
        <p:spPr>
          <a:xfrm>
            <a:off x="5156200" y="2413000"/>
            <a:ext cx="324128" cy="369332"/>
          </a:xfrm>
          <a:prstGeom prst="rect">
            <a:avLst/>
          </a:prstGeom>
          <a:noFill/>
        </p:spPr>
        <p:txBody>
          <a:bodyPr wrap="square" rtlCol="0">
            <a:spAutoFit/>
          </a:bodyPr>
          <a:lstStyle/>
          <a:p>
            <a:r>
              <a:rPr lang="en-US" dirty="0"/>
              <a:t>C</a:t>
            </a:r>
          </a:p>
        </p:txBody>
      </p:sp>
      <p:sp>
        <p:nvSpPr>
          <p:cNvPr id="8" name="TextBox 7">
            <a:extLst>
              <a:ext uri="{FF2B5EF4-FFF2-40B4-BE49-F238E27FC236}">
                <a16:creationId xmlns:a16="http://schemas.microsoft.com/office/drawing/2014/main" id="{63360A95-33FB-AC9A-D8AD-F00E7AD25902}"/>
              </a:ext>
            </a:extLst>
          </p:cNvPr>
          <p:cNvSpPr txBox="1"/>
          <p:nvPr/>
        </p:nvSpPr>
        <p:spPr>
          <a:xfrm>
            <a:off x="8890000" y="1181100"/>
            <a:ext cx="3060262" cy="1200329"/>
          </a:xfrm>
          <a:prstGeom prst="rect">
            <a:avLst/>
          </a:prstGeom>
          <a:noFill/>
        </p:spPr>
        <p:txBody>
          <a:bodyPr wrap="square" rtlCol="0">
            <a:spAutoFit/>
          </a:bodyPr>
          <a:lstStyle/>
          <a:p>
            <a:r>
              <a:rPr lang="en-US" b="1" dirty="0">
                <a:solidFill>
                  <a:srgbClr val="941100"/>
                </a:solidFill>
              </a:rPr>
              <a:t>Step 14</a:t>
            </a:r>
            <a:r>
              <a:rPr lang="en-US" dirty="0">
                <a:solidFill>
                  <a:srgbClr val="941100"/>
                </a:solidFill>
              </a:rPr>
              <a:t>: Glue Part A to the top of the silver x-axis from Step 13. Make sure the slot in part A faces up.</a:t>
            </a:r>
          </a:p>
        </p:txBody>
      </p:sp>
      <p:sp>
        <p:nvSpPr>
          <p:cNvPr id="9" name="TextBox 8">
            <a:extLst>
              <a:ext uri="{FF2B5EF4-FFF2-40B4-BE49-F238E27FC236}">
                <a16:creationId xmlns:a16="http://schemas.microsoft.com/office/drawing/2014/main" id="{096A7B25-4590-E361-DCB9-8A44A4DA6695}"/>
              </a:ext>
            </a:extLst>
          </p:cNvPr>
          <p:cNvSpPr txBox="1"/>
          <p:nvPr/>
        </p:nvSpPr>
        <p:spPr>
          <a:xfrm>
            <a:off x="8890001" y="3132083"/>
            <a:ext cx="3060262" cy="923330"/>
          </a:xfrm>
          <a:prstGeom prst="rect">
            <a:avLst/>
          </a:prstGeom>
          <a:noFill/>
        </p:spPr>
        <p:txBody>
          <a:bodyPr wrap="square" rtlCol="0">
            <a:spAutoFit/>
          </a:bodyPr>
          <a:lstStyle/>
          <a:p>
            <a:r>
              <a:rPr lang="en-US" b="1" dirty="0">
                <a:solidFill>
                  <a:srgbClr val="941100"/>
                </a:solidFill>
              </a:rPr>
              <a:t>Step 15</a:t>
            </a:r>
            <a:r>
              <a:rPr lang="en-US" dirty="0">
                <a:solidFill>
                  <a:srgbClr val="941100"/>
                </a:solidFill>
              </a:rPr>
              <a:t>: Slide the triangular dovetail from part B into the slot in part A</a:t>
            </a:r>
          </a:p>
        </p:txBody>
      </p:sp>
      <p:sp>
        <p:nvSpPr>
          <p:cNvPr id="10" name="TextBox 9">
            <a:extLst>
              <a:ext uri="{FF2B5EF4-FFF2-40B4-BE49-F238E27FC236}">
                <a16:creationId xmlns:a16="http://schemas.microsoft.com/office/drawing/2014/main" id="{A68A6D19-0628-6D74-8641-F6E5C8422052}"/>
              </a:ext>
            </a:extLst>
          </p:cNvPr>
          <p:cNvSpPr txBox="1"/>
          <p:nvPr/>
        </p:nvSpPr>
        <p:spPr>
          <a:xfrm>
            <a:off x="8785772" y="4476571"/>
            <a:ext cx="3268717" cy="1200329"/>
          </a:xfrm>
          <a:prstGeom prst="rect">
            <a:avLst/>
          </a:prstGeom>
          <a:noFill/>
        </p:spPr>
        <p:txBody>
          <a:bodyPr wrap="square" rtlCol="0">
            <a:spAutoFit/>
          </a:bodyPr>
          <a:lstStyle/>
          <a:p>
            <a:r>
              <a:rPr lang="en-US" b="1" dirty="0">
                <a:solidFill>
                  <a:srgbClr val="941100"/>
                </a:solidFill>
              </a:rPr>
              <a:t>Step 16</a:t>
            </a:r>
            <a:r>
              <a:rPr lang="en-US" dirty="0">
                <a:solidFill>
                  <a:srgbClr val="941100"/>
                </a:solidFill>
              </a:rPr>
              <a:t>: Glue part C to the upper end of part B with the </a:t>
            </a:r>
            <a:r>
              <a:rPr lang="en-US" dirty="0" err="1">
                <a:solidFill>
                  <a:srgbClr val="941100"/>
                </a:solidFill>
              </a:rPr>
              <a:t>luer</a:t>
            </a:r>
            <a:r>
              <a:rPr lang="en-US" dirty="0">
                <a:solidFill>
                  <a:srgbClr val="941100"/>
                </a:solidFill>
              </a:rPr>
              <a:t> lock facing away from part A.</a:t>
            </a:r>
          </a:p>
        </p:txBody>
      </p:sp>
    </p:spTree>
    <p:extLst>
      <p:ext uri="{BB962C8B-B14F-4D97-AF65-F5344CB8AC3E}">
        <p14:creationId xmlns:p14="http://schemas.microsoft.com/office/powerpoint/2010/main" val="4221862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4BC830-B746-42A5-6799-714A2937D58E}"/>
              </a:ext>
            </a:extLst>
          </p:cNvPr>
          <p:cNvSpPr txBox="1"/>
          <p:nvPr/>
        </p:nvSpPr>
        <p:spPr>
          <a:xfrm>
            <a:off x="1576553" y="1030014"/>
            <a:ext cx="10174014" cy="3970318"/>
          </a:xfrm>
          <a:prstGeom prst="rect">
            <a:avLst/>
          </a:prstGeom>
          <a:noFill/>
        </p:spPr>
        <p:txBody>
          <a:bodyPr wrap="square" rtlCol="0">
            <a:spAutoFit/>
          </a:bodyPr>
          <a:lstStyle/>
          <a:p>
            <a:r>
              <a:rPr lang="en-US" b="1" dirty="0">
                <a:solidFill>
                  <a:srgbClr val="941100"/>
                </a:solidFill>
              </a:rPr>
              <a:t>Step 17</a:t>
            </a:r>
            <a:r>
              <a:rPr lang="en-US" dirty="0">
                <a:solidFill>
                  <a:srgbClr val="941100"/>
                </a:solidFill>
              </a:rPr>
              <a:t>: Insert the dispensing syringe needle into the </a:t>
            </a:r>
            <a:r>
              <a:rPr lang="en-US" dirty="0" err="1">
                <a:solidFill>
                  <a:srgbClr val="941100"/>
                </a:solidFill>
              </a:rPr>
              <a:t>luer</a:t>
            </a:r>
            <a:r>
              <a:rPr lang="en-US" dirty="0">
                <a:solidFill>
                  <a:srgbClr val="941100"/>
                </a:solidFill>
              </a:rPr>
              <a:t> lock from step 16. </a:t>
            </a:r>
          </a:p>
          <a:p>
            <a:endParaRPr lang="en-US" dirty="0">
              <a:solidFill>
                <a:srgbClr val="941100"/>
              </a:solidFill>
            </a:endParaRPr>
          </a:p>
          <a:p>
            <a:r>
              <a:rPr lang="en-US" b="1" dirty="0">
                <a:solidFill>
                  <a:srgbClr val="941100"/>
                </a:solidFill>
              </a:rPr>
              <a:t>Step 18</a:t>
            </a:r>
            <a:r>
              <a:rPr lang="en-US" dirty="0">
                <a:solidFill>
                  <a:srgbClr val="941100"/>
                </a:solidFill>
              </a:rPr>
              <a:t>: Use fine sandpaper to remove the coating from </a:t>
            </a:r>
            <a:r>
              <a:rPr lang="en-US" u="sng" dirty="0">
                <a:solidFill>
                  <a:srgbClr val="941100"/>
                </a:solidFill>
              </a:rPr>
              <a:t>one</a:t>
            </a:r>
            <a:r>
              <a:rPr lang="en-US" dirty="0">
                <a:solidFill>
                  <a:srgbClr val="941100"/>
                </a:solidFill>
              </a:rPr>
              <a:t> end of the coated copper wire.</a:t>
            </a:r>
          </a:p>
          <a:p>
            <a:endParaRPr lang="en-US" dirty="0">
              <a:solidFill>
                <a:srgbClr val="941100"/>
              </a:solidFill>
            </a:endParaRPr>
          </a:p>
          <a:p>
            <a:r>
              <a:rPr lang="en-US" b="1" dirty="0">
                <a:solidFill>
                  <a:srgbClr val="941100"/>
                </a:solidFill>
              </a:rPr>
              <a:t>Step 19</a:t>
            </a:r>
            <a:r>
              <a:rPr lang="en-US" dirty="0">
                <a:solidFill>
                  <a:srgbClr val="941100"/>
                </a:solidFill>
              </a:rPr>
              <a:t>: Carefully insert a 5-6 inch piece of </a:t>
            </a:r>
            <a:r>
              <a:rPr lang="en-US" b="1" u="sng" dirty="0">
                <a:solidFill>
                  <a:srgbClr val="941100"/>
                </a:solidFill>
              </a:rPr>
              <a:t>coated</a:t>
            </a:r>
            <a:r>
              <a:rPr lang="en-US" dirty="0">
                <a:solidFill>
                  <a:srgbClr val="941100"/>
                </a:solidFill>
              </a:rPr>
              <a:t> copper wire into the metal needle until it sticks out the back of the electrode holder part C</a:t>
            </a:r>
          </a:p>
          <a:p>
            <a:endParaRPr lang="en-US" dirty="0">
              <a:solidFill>
                <a:srgbClr val="941100"/>
              </a:solidFill>
            </a:endParaRPr>
          </a:p>
          <a:p>
            <a:r>
              <a:rPr lang="en-US" b="1" dirty="0">
                <a:solidFill>
                  <a:srgbClr val="941100"/>
                </a:solidFill>
              </a:rPr>
              <a:t>Step 20</a:t>
            </a:r>
            <a:r>
              <a:rPr lang="en-US" dirty="0">
                <a:solidFill>
                  <a:srgbClr val="941100"/>
                </a:solidFill>
              </a:rPr>
              <a:t>: Solder the newly sanded end of the electrode wire to the red wire of the audio jack and secure the wires to the plastic holder with glue or blue dental wax.</a:t>
            </a:r>
          </a:p>
          <a:p>
            <a:endParaRPr lang="en-US" dirty="0">
              <a:solidFill>
                <a:srgbClr val="941100"/>
              </a:solidFill>
            </a:endParaRPr>
          </a:p>
          <a:p>
            <a:r>
              <a:rPr lang="en-US" b="1" dirty="0">
                <a:solidFill>
                  <a:srgbClr val="941100"/>
                </a:solidFill>
              </a:rPr>
              <a:t>Step 21</a:t>
            </a:r>
            <a:r>
              <a:rPr lang="en-US" dirty="0">
                <a:solidFill>
                  <a:srgbClr val="941100"/>
                </a:solidFill>
              </a:rPr>
              <a:t>: Solder a 5-6 inch piece of </a:t>
            </a:r>
            <a:r>
              <a:rPr lang="en-US" b="1" u="sng" dirty="0">
                <a:solidFill>
                  <a:srgbClr val="941100"/>
                </a:solidFill>
              </a:rPr>
              <a:t>bare</a:t>
            </a:r>
            <a:r>
              <a:rPr lang="en-US" dirty="0">
                <a:solidFill>
                  <a:srgbClr val="941100"/>
                </a:solidFill>
              </a:rPr>
              <a:t> copper wire to the end of the black wire on the audio jack and cut off the white wire (it is not used). Slide the bare wire through the small tube (or into the small groove) on the outside of the plastic electrode holder and secure it with glue. This will serve as the reference electrode.</a:t>
            </a:r>
          </a:p>
        </p:txBody>
      </p:sp>
    </p:spTree>
    <p:extLst>
      <p:ext uri="{BB962C8B-B14F-4D97-AF65-F5344CB8AC3E}">
        <p14:creationId xmlns:p14="http://schemas.microsoft.com/office/powerpoint/2010/main" val="13576864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5B67A-92A2-816F-6076-3DF667584684}"/>
            </a:ext>
          </a:extLst>
        </p:cNvPr>
        <p:cNvGrpSpPr/>
        <p:nvPr/>
      </p:nvGrpSpPr>
      <p:grpSpPr>
        <a:xfrm>
          <a:off x="0" y="0"/>
          <a:ext cx="0" cy="0"/>
          <a:chOff x="0" y="0"/>
          <a:chExt cx="0" cy="0"/>
        </a:xfrm>
      </p:grpSpPr>
      <p:pic>
        <p:nvPicPr>
          <p:cNvPr id="2" name="Picture 1" descr="A robot arm with wires and a syringe&#10;&#10;AI-generated content may be incorrect.">
            <a:extLst>
              <a:ext uri="{FF2B5EF4-FFF2-40B4-BE49-F238E27FC236}">
                <a16:creationId xmlns:a16="http://schemas.microsoft.com/office/drawing/2014/main" id="{955FEA36-287A-6003-02C8-0EFE6F79B1B5}"/>
              </a:ext>
            </a:extLst>
          </p:cNvPr>
          <p:cNvPicPr>
            <a:picLocks noChangeAspect="1"/>
          </p:cNvPicPr>
          <p:nvPr/>
        </p:nvPicPr>
        <p:blipFill>
          <a:blip r:embed="rId2"/>
          <a:srcRect l="13091" t="9228" r="15975" b="8881"/>
          <a:stretch>
            <a:fillRect/>
          </a:stretch>
        </p:blipFill>
        <p:spPr>
          <a:xfrm>
            <a:off x="1796143" y="195310"/>
            <a:ext cx="7469367" cy="6467379"/>
          </a:xfrm>
          <a:prstGeom prst="rect">
            <a:avLst/>
          </a:prstGeom>
        </p:spPr>
      </p:pic>
    </p:spTree>
    <p:extLst>
      <p:ext uri="{BB962C8B-B14F-4D97-AF65-F5344CB8AC3E}">
        <p14:creationId xmlns:p14="http://schemas.microsoft.com/office/powerpoint/2010/main" val="27752048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TotalTime>
  <Words>816</Words>
  <Application>Microsoft Macintosh PowerPoint</Application>
  <PresentationFormat>Widescreen</PresentationFormat>
  <Paragraphs>66</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James</dc:creator>
  <cp:lastModifiedBy>Ryan, James</cp:lastModifiedBy>
  <cp:revision>3</cp:revision>
  <dcterms:created xsi:type="dcterms:W3CDTF">2025-11-17T17:39:48Z</dcterms:created>
  <dcterms:modified xsi:type="dcterms:W3CDTF">2026-05-23T14:45:02Z</dcterms:modified>
</cp:coreProperties>
</file>