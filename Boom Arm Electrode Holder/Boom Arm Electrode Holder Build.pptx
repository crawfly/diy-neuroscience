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1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53"/>
  </p:normalViewPr>
  <p:slideViewPr>
    <p:cSldViewPr snapToGrid="0">
      <p:cViewPr varScale="1">
        <p:scale>
          <a:sx n="118" d="100"/>
          <a:sy n="118" d="100"/>
        </p:scale>
        <p:origin x="55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AA4F1-A40B-92F5-73C4-D768ACAC5D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D9E888-8F72-5AAF-EC8D-80F0AE890B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BC00A-7683-1671-822F-F55AA3E70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87D02-9D1B-E241-9FDB-B5CA8FD7ACE2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77336E-E681-F416-C01C-16D10FAEE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033B3C-AF39-AA1D-8307-3B1D63EFC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6C810-0A63-CC45-8968-BBBAF6CB23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096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B9B78-F457-2C05-B346-E99635432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DBE94-90E4-EE8E-3DF8-FC3BB8C5B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8FD624-AD14-6280-3462-7D2A5BCE1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87D02-9D1B-E241-9FDB-B5CA8FD7ACE2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D4D1C0-4BA8-7329-BB14-9CFD05B3F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89E5BD-9432-EB4A-83DA-DCC14F089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6C810-0A63-CC45-8968-BBBAF6CB23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748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45C67-890F-9530-711B-84DE35D3D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C86392-42CA-A68A-C144-DC53731A38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EC3CBE-5782-89DC-A644-0893EBD85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87D02-9D1B-E241-9FDB-B5CA8FD7ACE2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508DD5-648D-7A2B-C12F-8446F92C7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7374DF-6917-C0DC-376C-8CC697AF7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6C810-0A63-CC45-8968-BBBAF6CB23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003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B7501-EE4C-353F-4E21-2D4BF5F16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318324-0FDF-26F0-88AA-55E109C453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8581AD-0A2B-FA26-43B2-B33B777B1C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8FA2DF-D121-F649-63DF-BAEDAD614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87D02-9D1B-E241-9FDB-B5CA8FD7ACE2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1C6A38-401D-953E-8F90-B051A121A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E525B2-9BC9-2500-2240-C6F831166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6C810-0A63-CC45-8968-BBBAF6CB23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96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1CB90-712A-C93C-4E90-E98F4F4D4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96AE7D-3168-2020-31D5-1789F58CE7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37A886-AAE6-36DD-D7EA-97BFC11682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343905-BB15-919B-2F5F-FE2B380C80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5C9BA6-9DED-4845-53AF-9F79084666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500061-D679-2173-0313-D909B9E57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87D02-9D1B-E241-9FDB-B5CA8FD7ACE2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ABF682-A541-C83F-0CB6-51377A95B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6AEE60-247C-DC8F-3746-43C7B106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6C810-0A63-CC45-8968-BBBAF6CB23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907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9CF9A-3E38-4872-EEDC-FFF7F415E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944C29-DD17-9A03-AB93-F42FB4483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87D02-9D1B-E241-9FDB-B5CA8FD7ACE2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F54A21-F516-0481-4949-5A3EE50E0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611D7D-ED51-E91F-3A81-45ACE1D15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6C810-0A63-CC45-8968-BBBAF6CB23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82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F2FB34-6563-8814-5881-AF5C268F7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87D02-9D1B-E241-9FDB-B5CA8FD7ACE2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35F35F-A571-85B9-2C13-3576E1CD6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4AB5BB-E6F5-5749-CE61-C27D022B4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6C810-0A63-CC45-8968-BBBAF6CB23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863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C3AE9-EC5C-41F3-40FF-ABE5EADFB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158FD-899F-6D4B-CC0B-17B4B62D3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EA3934-5479-AF96-C88C-8AEB600223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04FDBA-53D6-35C3-792D-370D7AF98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87D02-9D1B-E241-9FDB-B5CA8FD7ACE2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4B4132-A4BC-14E2-E0B8-61E45C9EC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850EE3-1F01-2C10-6DE7-EEAE3CC27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6C810-0A63-CC45-8968-BBBAF6CB23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653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F43F9-777E-740C-8E22-E572B86D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604E2F-E263-3081-2A2E-28B4962BAD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222DA6-B51C-9347-C2E6-199FD453F0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FB705D-745F-E2B3-AE66-C1596A270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87D02-9D1B-E241-9FDB-B5CA8FD7ACE2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1D026-AD87-01BA-FEA0-34F87B870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65D765-27AA-500F-BC26-A5708DA0B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6C810-0A63-CC45-8968-BBBAF6CB23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674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46A59-DBE9-7DF9-B857-49EF681F8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11517F-971F-69EE-75C4-93B3F653D4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AFCCF-E23C-618F-E518-875495523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87D02-9D1B-E241-9FDB-B5CA8FD7ACE2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61C826-7C48-14E1-A126-86CB4CDB8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DAFF4E-A1C7-2188-F3C1-081899A8F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6C810-0A63-CC45-8968-BBBAF6CB23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843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000C55-B6E4-AC9B-27EE-AB73F2DB87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2DE2F4-1401-06A2-0676-96D47AE84F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CB690-3E5B-8261-C185-73C2388C3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87D02-9D1B-E241-9FDB-B5CA8FD7ACE2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44C0F5-EB23-3337-AB3F-0DB4BDCB4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ABA4B-75BC-1861-B48F-A8909B872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6C810-0A63-CC45-8968-BBBAF6CB23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939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117D9C-961D-F70D-AF42-193B625B9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015B5C-8495-A97A-82E2-7658505CC3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A07959-BC97-9221-951B-78DA0B5564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F87D02-9D1B-E241-9FDB-B5CA8FD7ACE2}" type="datetimeFigureOut">
              <a:rPr lang="en-US" smtClean="0"/>
              <a:t>11/17/25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1EEDBB-6FCB-26EC-F117-5FB2ACB179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9E4376-DEC2-CCFF-0DEE-48FE0E9FDD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26C810-0A63-CC45-8968-BBBAF6CB23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896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rawFly/DIY-Neuroscience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obot arm with wires and a syringe&#10;&#10;AI-generated content may be incorrect.">
            <a:extLst>
              <a:ext uri="{FF2B5EF4-FFF2-40B4-BE49-F238E27FC236}">
                <a16:creationId xmlns:a16="http://schemas.microsoft.com/office/drawing/2014/main" id="{604A55AA-093E-17EE-B526-31CECDE50A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091" t="9228" r="15975" b="8881"/>
          <a:stretch>
            <a:fillRect/>
          </a:stretch>
        </p:blipFill>
        <p:spPr>
          <a:xfrm>
            <a:off x="2985247" y="1196788"/>
            <a:ext cx="5513294" cy="477370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A94518C-F457-55F6-2550-FCE37699E69D}"/>
              </a:ext>
            </a:extLst>
          </p:cNvPr>
          <p:cNvSpPr txBox="1"/>
          <p:nvPr/>
        </p:nvSpPr>
        <p:spPr>
          <a:xfrm>
            <a:off x="935257" y="302731"/>
            <a:ext cx="96132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Building the Boom Arm Extracellular Electrode Holder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199234-ECC8-72C1-2667-864788416E75}"/>
              </a:ext>
            </a:extLst>
          </p:cNvPr>
          <p:cNvSpPr txBox="1"/>
          <p:nvPr/>
        </p:nvSpPr>
        <p:spPr>
          <a:xfrm>
            <a:off x="325658" y="6370603"/>
            <a:ext cx="37616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Designed by Dr. James Ryan for the </a:t>
            </a:r>
            <a:r>
              <a:rPr lang="en-US" sz="1200" dirty="0" err="1"/>
              <a:t>CrawFly</a:t>
            </a:r>
            <a:r>
              <a:rPr lang="en-US" sz="1200" dirty="0"/>
              <a:t> Collective</a:t>
            </a:r>
          </a:p>
        </p:txBody>
      </p:sp>
    </p:spTree>
    <p:extLst>
      <p:ext uri="{BB962C8B-B14F-4D97-AF65-F5344CB8AC3E}">
        <p14:creationId xmlns:p14="http://schemas.microsoft.com/office/powerpoint/2010/main" val="11535179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12D27-78BB-45A4-2BAE-15B62ED44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close-up of different types of mechanical parts&#10;&#10;AI-generated content may be incorrect.">
            <a:extLst>
              <a:ext uri="{FF2B5EF4-FFF2-40B4-BE49-F238E27FC236}">
                <a16:creationId xmlns:a16="http://schemas.microsoft.com/office/drawing/2014/main" id="{08AFC2CD-12DC-3056-3E24-E65825F263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664" y="1539911"/>
            <a:ext cx="5067300" cy="35814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77CA39-43E4-4A12-0B6C-25D09246D1E5}"/>
              </a:ext>
            </a:extLst>
          </p:cNvPr>
          <p:cNvSpPr txBox="1"/>
          <p:nvPr/>
        </p:nvSpPr>
        <p:spPr>
          <a:xfrm>
            <a:off x="607081" y="543992"/>
            <a:ext cx="61017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941100"/>
                </a:solidFill>
              </a:rPr>
              <a:t>Step 1: 3D print the parts for the boom arm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BEFC37-B4D6-EC7D-DF37-754612CFCAC1}"/>
              </a:ext>
            </a:extLst>
          </p:cNvPr>
          <p:cNvSpPr txBox="1"/>
          <p:nvPr/>
        </p:nvSpPr>
        <p:spPr>
          <a:xfrm>
            <a:off x="7442946" y="662748"/>
            <a:ext cx="439046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Parts A, B, C must be printed with supports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Parts should be printed with at least 50% infill for strength and rigidity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two screws (F) should be printed at 100% infill.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40CB79-3B18-890A-A9AE-7BDD067FC048}"/>
              </a:ext>
            </a:extLst>
          </p:cNvPr>
          <p:cNvSpPr txBox="1"/>
          <p:nvPr/>
        </p:nvSpPr>
        <p:spPr>
          <a:xfrm>
            <a:off x="7624482" y="3160059"/>
            <a:ext cx="39143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</a:t>
            </a:r>
            <a:r>
              <a:rPr lang="en-US" dirty="0" err="1"/>
              <a:t>stl</a:t>
            </a:r>
            <a:r>
              <a:rPr lang="en-US" dirty="0"/>
              <a:t> files for the parts are available on our </a:t>
            </a:r>
            <a:r>
              <a:rPr lang="en-US" dirty="0" err="1"/>
              <a:t>GitHib</a:t>
            </a:r>
            <a:r>
              <a:rPr lang="en-US" dirty="0"/>
              <a:t> at:</a:t>
            </a:r>
          </a:p>
          <a:p>
            <a:r>
              <a:rPr lang="en-US" dirty="0">
                <a:hlinkClick r:id="rId3"/>
              </a:rPr>
              <a:t>https://</a:t>
            </a:r>
            <a:r>
              <a:rPr lang="en-US" dirty="0" err="1">
                <a:hlinkClick r:id="rId3"/>
              </a:rPr>
              <a:t>github.com</a:t>
            </a:r>
            <a:r>
              <a:rPr lang="en-US" dirty="0">
                <a:hlinkClick r:id="rId3"/>
              </a:rPr>
              <a:t>/</a:t>
            </a:r>
            <a:r>
              <a:rPr lang="en-US" dirty="0" err="1">
                <a:hlinkClick r:id="rId3"/>
              </a:rPr>
              <a:t>CrawFly</a:t>
            </a:r>
            <a:r>
              <a:rPr lang="en-US" dirty="0">
                <a:hlinkClick r:id="rId3"/>
              </a:rPr>
              <a:t>/DIY-Neuroscience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73DEB6-8E19-D5D4-DD89-97A8EA8CBE41}"/>
              </a:ext>
            </a:extLst>
          </p:cNvPr>
          <p:cNvSpPr txBox="1"/>
          <p:nvPr/>
        </p:nvSpPr>
        <p:spPr>
          <a:xfrm>
            <a:off x="1701262" y="2338217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941100"/>
                </a:solidFill>
              </a:rPr>
              <a:t>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A9C437-00AD-C9AE-7214-0EC8DDF3B42E}"/>
              </a:ext>
            </a:extLst>
          </p:cNvPr>
          <p:cNvSpPr txBox="1"/>
          <p:nvPr/>
        </p:nvSpPr>
        <p:spPr>
          <a:xfrm>
            <a:off x="3166980" y="2417074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941100"/>
                </a:solidFill>
              </a:rPr>
              <a:t>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93F97D-73FD-FD04-5492-3BCA74B46A0D}"/>
              </a:ext>
            </a:extLst>
          </p:cNvPr>
          <p:cNvSpPr txBox="1"/>
          <p:nvPr/>
        </p:nvSpPr>
        <p:spPr>
          <a:xfrm>
            <a:off x="1683630" y="3332426"/>
            <a:ext cx="344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941100"/>
                </a:solidFill>
              </a:rPr>
              <a:t>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967249-8F91-8237-8712-ACF6A7B51662}"/>
              </a:ext>
            </a:extLst>
          </p:cNvPr>
          <p:cNvSpPr txBox="1"/>
          <p:nvPr/>
        </p:nvSpPr>
        <p:spPr>
          <a:xfrm>
            <a:off x="2028596" y="4818151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941100"/>
                </a:solidFill>
              </a:rPr>
              <a:t>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1145EC-6B3D-CC9C-3430-CFF3359A6586}"/>
              </a:ext>
            </a:extLst>
          </p:cNvPr>
          <p:cNvSpPr txBox="1"/>
          <p:nvPr/>
        </p:nvSpPr>
        <p:spPr>
          <a:xfrm>
            <a:off x="3733007" y="444881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F6D17F-399B-FE02-584E-903B961D1B38}"/>
              </a:ext>
            </a:extLst>
          </p:cNvPr>
          <p:cNvSpPr txBox="1"/>
          <p:nvPr/>
        </p:nvSpPr>
        <p:spPr>
          <a:xfrm>
            <a:off x="4283931" y="1539911"/>
            <a:ext cx="3064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41100"/>
                </a:solidFill>
              </a:rPr>
              <a:t>F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35A1CD-B880-021D-BBF7-F4812F895DCB}"/>
              </a:ext>
            </a:extLst>
          </p:cNvPr>
          <p:cNvSpPr txBox="1"/>
          <p:nvPr/>
        </p:nvSpPr>
        <p:spPr>
          <a:xfrm>
            <a:off x="5155947" y="153991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941100"/>
                </a:solidFill>
              </a:rPr>
              <a:t>F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133DB4-6D8E-5598-ABC4-DAF42737C519}"/>
              </a:ext>
            </a:extLst>
          </p:cNvPr>
          <p:cNvSpPr txBox="1"/>
          <p:nvPr/>
        </p:nvSpPr>
        <p:spPr>
          <a:xfrm>
            <a:off x="5114269" y="4360388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11639758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CE110-0BD7-5509-65F8-AD2D2FF0E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8D29447-632B-F283-9587-E6B43959B555}"/>
              </a:ext>
            </a:extLst>
          </p:cNvPr>
          <p:cNvSpPr txBox="1"/>
          <p:nvPr/>
        </p:nvSpPr>
        <p:spPr>
          <a:xfrm>
            <a:off x="925286" y="664029"/>
            <a:ext cx="43189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941100"/>
                </a:solidFill>
              </a:rPr>
              <a:t>Step 2: Prepare the base. </a:t>
            </a:r>
          </a:p>
        </p:txBody>
      </p:sp>
      <p:pic>
        <p:nvPicPr>
          <p:cNvPr id="4" name="Picture 3" descr="A black square with a black rectangular object next to a black rectangular object&#10;&#10;AI-generated content may be incorrect.">
            <a:extLst>
              <a:ext uri="{FF2B5EF4-FFF2-40B4-BE49-F238E27FC236}">
                <a16:creationId xmlns:a16="http://schemas.microsoft.com/office/drawing/2014/main" id="{60679815-BD93-8E35-0E4F-EC525EFED0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748" t="21068" r="17936" b="19847"/>
          <a:stretch>
            <a:fillRect/>
          </a:stretch>
        </p:blipFill>
        <p:spPr>
          <a:xfrm rot="5400000">
            <a:off x="595228" y="1385405"/>
            <a:ext cx="2833418" cy="303903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14EE9D4-E5DC-B9BB-F709-90ECCA222AE0}"/>
              </a:ext>
            </a:extLst>
          </p:cNvPr>
          <p:cNvSpPr txBox="1"/>
          <p:nvPr/>
        </p:nvSpPr>
        <p:spPr>
          <a:xfrm>
            <a:off x="5595257" y="859971"/>
            <a:ext cx="59436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There are two options for bases:</a:t>
            </a:r>
          </a:p>
          <a:p>
            <a:endParaRPr lang="en-US" dirty="0"/>
          </a:p>
          <a:p>
            <a:r>
              <a:rPr lang="en-US" dirty="0"/>
              <a:t>1) A 4x4 inch sheet of 1/8th or ¼ inch steel plate.  Available at Lowes or Home Depot</a:t>
            </a:r>
          </a:p>
          <a:p>
            <a:endParaRPr lang="en-US" dirty="0"/>
          </a:p>
          <a:p>
            <a:r>
              <a:rPr lang="en-US" dirty="0"/>
              <a:t>2) An On-Off magnetic base (used if you have a steel table).</a:t>
            </a:r>
          </a:p>
        </p:txBody>
      </p:sp>
      <p:pic>
        <p:nvPicPr>
          <p:cNvPr id="7" name="Picture 6" descr="A black box with a black knob&#10;&#10;AI-generated content may be incorrect.">
            <a:extLst>
              <a:ext uri="{FF2B5EF4-FFF2-40B4-BE49-F238E27FC236}">
                <a16:creationId xmlns:a16="http://schemas.microsoft.com/office/drawing/2014/main" id="{444DCFDB-FD17-6A05-B6E9-CAD772CA11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540" t="21217" r="32381" b="17408"/>
          <a:stretch>
            <a:fillRect/>
          </a:stretch>
        </p:blipFill>
        <p:spPr>
          <a:xfrm rot="5400000">
            <a:off x="584092" y="4383210"/>
            <a:ext cx="2696239" cy="225334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C374ED1-FBEE-8366-3CD9-33988D87C285}"/>
              </a:ext>
            </a:extLst>
          </p:cNvPr>
          <p:cNvSpPr txBox="1"/>
          <p:nvPr/>
        </p:nvSpPr>
        <p:spPr>
          <a:xfrm>
            <a:off x="653143" y="177437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A3B619-F8C4-9D0A-CCFA-4029B675AE6C}"/>
              </a:ext>
            </a:extLst>
          </p:cNvPr>
          <p:cNvSpPr txBox="1"/>
          <p:nvPr/>
        </p:nvSpPr>
        <p:spPr>
          <a:xfrm>
            <a:off x="807192" y="444791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E1CF6F-6F63-9679-DEFC-390C7CAE6D20}"/>
              </a:ext>
            </a:extLst>
          </p:cNvPr>
          <p:cNvSpPr txBox="1"/>
          <p:nvPr/>
        </p:nvSpPr>
        <p:spPr>
          <a:xfrm>
            <a:off x="6302828" y="2521964"/>
            <a:ext cx="4517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Can be purchased from Harbor Freight for ~$13.00 US</a:t>
            </a:r>
          </a:p>
        </p:txBody>
      </p:sp>
    </p:spTree>
    <p:extLst>
      <p:ext uri="{BB962C8B-B14F-4D97-AF65-F5344CB8AC3E}">
        <p14:creationId xmlns:p14="http://schemas.microsoft.com/office/powerpoint/2010/main" val="419533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F4883-CA59-C212-22FA-A09CFC5E2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314C7AB-B2FE-D777-B253-C15FADFE543E}"/>
              </a:ext>
            </a:extLst>
          </p:cNvPr>
          <p:cNvSpPr txBox="1"/>
          <p:nvPr/>
        </p:nvSpPr>
        <p:spPr>
          <a:xfrm>
            <a:off x="564136" y="589110"/>
            <a:ext cx="103542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41100"/>
                </a:solidFill>
              </a:rPr>
              <a:t>Step 3:  Superglue 3d printed part E to the center of either the steel plate or the top of the magnetic base.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3330EC-644D-2BC1-6958-B32E1BE674FB}"/>
              </a:ext>
            </a:extLst>
          </p:cNvPr>
          <p:cNvSpPr txBox="1"/>
          <p:nvPr/>
        </p:nvSpPr>
        <p:spPr>
          <a:xfrm>
            <a:off x="564136" y="1393371"/>
            <a:ext cx="4977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941100"/>
                </a:solidFill>
              </a:rPr>
              <a:t>Step 4: Prepare the two x-y microscope stages</a:t>
            </a:r>
          </a:p>
        </p:txBody>
      </p:sp>
      <p:pic>
        <p:nvPicPr>
          <p:cNvPr id="7" name="Picture 6" descr="A pair of black and silver measuring devices&#10;&#10;AI-generated content may be incorrect.">
            <a:extLst>
              <a:ext uri="{FF2B5EF4-FFF2-40B4-BE49-F238E27FC236}">
                <a16:creationId xmlns:a16="http://schemas.microsoft.com/office/drawing/2014/main" id="{A1A4D75C-3579-35CE-10C9-C6FE849BBA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739" t="20674" r="16144" b="20457"/>
          <a:stretch>
            <a:fillRect/>
          </a:stretch>
        </p:blipFill>
        <p:spPr>
          <a:xfrm>
            <a:off x="820271" y="2067412"/>
            <a:ext cx="5082988" cy="302788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A9C6C83-5D74-A10A-AE2F-401D7F9165C9}"/>
              </a:ext>
            </a:extLst>
          </p:cNvPr>
          <p:cNvSpPr txBox="1"/>
          <p:nvPr/>
        </p:nvSpPr>
        <p:spPr>
          <a:xfrm>
            <a:off x="6696635" y="2191871"/>
            <a:ext cx="46750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Begin by removing the slide holders from the top and the scales from the top and bottom sections as shown on the right</a:t>
            </a:r>
          </a:p>
        </p:txBody>
      </p:sp>
    </p:spTree>
    <p:extLst>
      <p:ext uri="{BB962C8B-B14F-4D97-AF65-F5344CB8AC3E}">
        <p14:creationId xmlns:p14="http://schemas.microsoft.com/office/powerpoint/2010/main" val="1722582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E329A-42C2-677C-69AB-CF89C34B6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air of black metal objects&#10;&#10;AI-generated content may be incorrect.">
            <a:extLst>
              <a:ext uri="{FF2B5EF4-FFF2-40B4-BE49-F238E27FC236}">
                <a16:creationId xmlns:a16="http://schemas.microsoft.com/office/drawing/2014/main" id="{CB625A22-3B9A-91CE-22FE-5B946BAD9E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339" t="19839" r="11240" b="23182"/>
          <a:stretch>
            <a:fillRect/>
          </a:stretch>
        </p:blipFill>
        <p:spPr>
          <a:xfrm>
            <a:off x="726141" y="1395932"/>
            <a:ext cx="6266330" cy="33214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F1A374A-875C-8CEB-ABE5-3454F9D9AD6D}"/>
              </a:ext>
            </a:extLst>
          </p:cNvPr>
          <p:cNvSpPr txBox="1"/>
          <p:nvPr/>
        </p:nvSpPr>
        <p:spPr>
          <a:xfrm>
            <a:off x="726141" y="591671"/>
            <a:ext cx="79823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941100"/>
                </a:solidFill>
              </a:rPr>
              <a:t>Step 5: Remove the x axis from the y axis by removing the two sliver screws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E6AAF9-0464-A44B-30EB-3F2DC8E8A44A}"/>
              </a:ext>
            </a:extLst>
          </p:cNvPr>
          <p:cNvSpPr txBox="1"/>
          <p:nvPr/>
        </p:nvSpPr>
        <p:spPr>
          <a:xfrm>
            <a:off x="7554686" y="1796143"/>
            <a:ext cx="438694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At this point you should have 2 x-axis parts that look like the one on the right in this photo.</a:t>
            </a:r>
          </a:p>
          <a:p>
            <a:endParaRPr lang="en-US" dirty="0"/>
          </a:p>
          <a:p>
            <a:r>
              <a:rPr lang="en-US" dirty="0"/>
              <a:t>You should also have 2 of the y-axis components (used later).</a:t>
            </a:r>
          </a:p>
        </p:txBody>
      </p:sp>
    </p:spTree>
    <p:extLst>
      <p:ext uri="{BB962C8B-B14F-4D97-AF65-F5344CB8AC3E}">
        <p14:creationId xmlns:p14="http://schemas.microsoft.com/office/powerpoint/2010/main" val="1194532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EDF26-A266-F871-0C3D-1CEC1AF50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metal piece of furniture&#10;&#10;AI-generated content may be incorrect.">
            <a:extLst>
              <a:ext uri="{FF2B5EF4-FFF2-40B4-BE49-F238E27FC236}">
                <a16:creationId xmlns:a16="http://schemas.microsoft.com/office/drawing/2014/main" id="{E32352B4-09AF-A1DE-DCE0-7A96F7C528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835" r="16667" b="7586"/>
          <a:stretch>
            <a:fillRect/>
          </a:stretch>
        </p:blipFill>
        <p:spPr>
          <a:xfrm rot="5400000">
            <a:off x="1275229" y="1371601"/>
            <a:ext cx="4235823" cy="54057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77970A6-890F-545F-BDA1-F2A908C45CFB}"/>
              </a:ext>
            </a:extLst>
          </p:cNvPr>
          <p:cNvSpPr txBox="1"/>
          <p:nvPr/>
        </p:nvSpPr>
        <p:spPr>
          <a:xfrm>
            <a:off x="690281" y="712694"/>
            <a:ext cx="9750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941100"/>
                </a:solidFill>
              </a:rPr>
              <a:t>Step 6: Using a hacksaw or band saw, cut the left side of the x-axis off as shown in the photo.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810D8B-6730-22DE-A0E1-A85BA6E49F74}"/>
              </a:ext>
            </a:extLst>
          </p:cNvPr>
          <p:cNvSpPr txBox="1"/>
          <p:nvPr/>
        </p:nvSpPr>
        <p:spPr>
          <a:xfrm>
            <a:off x="6599671" y="1956548"/>
            <a:ext cx="49020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Repeat this process for both x-axis components</a:t>
            </a:r>
          </a:p>
        </p:txBody>
      </p:sp>
      <p:pic>
        <p:nvPicPr>
          <p:cNvPr id="9" name="Picture 8" descr="A pair of black metal objects&#10;&#10;AI-generated content may be incorrect.">
            <a:extLst>
              <a:ext uri="{FF2B5EF4-FFF2-40B4-BE49-F238E27FC236}">
                <a16:creationId xmlns:a16="http://schemas.microsoft.com/office/drawing/2014/main" id="{5CF7C407-9FCF-BD96-CE2A-88A4023196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873" t="31799" r="20476" b="15079"/>
          <a:stretch>
            <a:fillRect/>
          </a:stretch>
        </p:blipFill>
        <p:spPr>
          <a:xfrm>
            <a:off x="7211007" y="3064331"/>
            <a:ext cx="3679375" cy="2732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113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2D374-F946-EE46-943D-CE745A2D3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8A41C3-41ED-90E9-A9B1-BE67FDC051CD}"/>
              </a:ext>
            </a:extLst>
          </p:cNvPr>
          <p:cNvSpPr txBox="1"/>
          <p:nvPr/>
        </p:nvSpPr>
        <p:spPr>
          <a:xfrm>
            <a:off x="685800" y="511629"/>
            <a:ext cx="100910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41100"/>
                </a:solidFill>
              </a:rPr>
              <a:t>Step 7: Use superglue or epoxy to glue 3D printed part E to the center of the base (either the metal plate or the magnetic base).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FA455D-1F93-A0AC-BF00-EDF7B130D302}"/>
              </a:ext>
            </a:extLst>
          </p:cNvPr>
          <p:cNvSpPr txBox="1"/>
          <p:nvPr/>
        </p:nvSpPr>
        <p:spPr>
          <a:xfrm>
            <a:off x="762001" y="1894114"/>
            <a:ext cx="51435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41100"/>
                </a:solidFill>
              </a:rPr>
              <a:t>Step 8: Use superglue or epoxy to glue part G to the top of one of the x-axis components. It should be in line with the x-axis component. Be sure not to get glue into the moveable parts of the x-axis.</a:t>
            </a:r>
          </a:p>
        </p:txBody>
      </p:sp>
      <p:pic>
        <p:nvPicPr>
          <p:cNvPr id="5" name="Picture 4" descr="A black metal object with a black handle&#10;&#10;AI-generated content may be incorrect.">
            <a:extLst>
              <a:ext uri="{FF2B5EF4-FFF2-40B4-BE49-F238E27FC236}">
                <a16:creationId xmlns:a16="http://schemas.microsoft.com/office/drawing/2014/main" id="{8BD9D59B-8BDE-61CD-4668-63C9A7DFC9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884" r="9207"/>
          <a:stretch>
            <a:fillRect/>
          </a:stretch>
        </p:blipFill>
        <p:spPr>
          <a:xfrm rot="5400000">
            <a:off x="6323915" y="1240286"/>
            <a:ext cx="5068669" cy="5143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816D461-2201-8D64-B3D5-32FC4A94AC1D}"/>
              </a:ext>
            </a:extLst>
          </p:cNvPr>
          <p:cNvSpPr txBox="1"/>
          <p:nvPr/>
        </p:nvSpPr>
        <p:spPr>
          <a:xfrm>
            <a:off x="8207829" y="4789714"/>
            <a:ext cx="3898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FF00"/>
                </a:solidFill>
              </a:rPr>
              <a:t>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916900-91E6-FAF2-1551-243B4254ED2A}"/>
              </a:ext>
            </a:extLst>
          </p:cNvPr>
          <p:cNvSpPr txBox="1"/>
          <p:nvPr/>
        </p:nvSpPr>
        <p:spPr>
          <a:xfrm>
            <a:off x="8323672" y="3002110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104353-B3AD-1EB5-C029-1D90490CD0E5}"/>
              </a:ext>
            </a:extLst>
          </p:cNvPr>
          <p:cNvSpPr txBox="1"/>
          <p:nvPr/>
        </p:nvSpPr>
        <p:spPr>
          <a:xfrm>
            <a:off x="8177862" y="3895912"/>
            <a:ext cx="9879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X-axis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9F8F56-B897-C96A-CB9D-0A623800BB2E}"/>
              </a:ext>
            </a:extLst>
          </p:cNvPr>
          <p:cNvSpPr txBox="1"/>
          <p:nvPr/>
        </p:nvSpPr>
        <p:spPr>
          <a:xfrm>
            <a:off x="7908772" y="1955240"/>
            <a:ext cx="9879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X-axis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46229F-2AF4-4DC6-5BFE-502D4DE20FFF}"/>
              </a:ext>
            </a:extLst>
          </p:cNvPr>
          <p:cNvSpPr txBox="1"/>
          <p:nvPr/>
        </p:nvSpPr>
        <p:spPr>
          <a:xfrm>
            <a:off x="762000" y="4080578"/>
            <a:ext cx="48223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41100"/>
                </a:solidFill>
              </a:rPr>
              <a:t>Step 9: Glue x-axis 2 to part G so that the thumb screws are 90 degrees to x-axis 1 (see photo).</a:t>
            </a:r>
          </a:p>
        </p:txBody>
      </p:sp>
    </p:spTree>
    <p:extLst>
      <p:ext uri="{BB962C8B-B14F-4D97-AF65-F5344CB8AC3E}">
        <p14:creationId xmlns:p14="http://schemas.microsoft.com/office/powerpoint/2010/main" val="3905407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2619A-A9A3-4B3F-6734-C7AB4A32B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DC3B22-20C6-D7E4-B164-DAA1ECAB2F3C}"/>
              </a:ext>
            </a:extLst>
          </p:cNvPr>
          <p:cNvSpPr txBox="1"/>
          <p:nvPr/>
        </p:nvSpPr>
        <p:spPr>
          <a:xfrm>
            <a:off x="718457" y="478971"/>
            <a:ext cx="88609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41100"/>
                </a:solidFill>
              </a:rPr>
              <a:t>Step 10: Glue 3D printed part  A on top of x-axis 2. The center post with the hole should be in line with the x-axis component</a:t>
            </a:r>
          </a:p>
        </p:txBody>
      </p:sp>
      <p:pic>
        <p:nvPicPr>
          <p:cNvPr id="4" name="Picture 3" descr="A black and orange object on a metal surface&#10;&#10;AI-generated content may be incorrect.">
            <a:extLst>
              <a:ext uri="{FF2B5EF4-FFF2-40B4-BE49-F238E27FC236}">
                <a16:creationId xmlns:a16="http://schemas.microsoft.com/office/drawing/2014/main" id="{DE228A3D-489C-A752-71AC-F4D9E567B8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159" r="14706"/>
          <a:stretch>
            <a:fillRect/>
          </a:stretch>
        </p:blipFill>
        <p:spPr>
          <a:xfrm rot="5400000">
            <a:off x="520913" y="1360235"/>
            <a:ext cx="5152785" cy="51435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FF4EC07-20B3-222F-00CC-BFC7089BD74F}"/>
              </a:ext>
            </a:extLst>
          </p:cNvPr>
          <p:cNvSpPr txBox="1"/>
          <p:nvPr/>
        </p:nvSpPr>
        <p:spPr>
          <a:xfrm>
            <a:off x="2624356" y="3429000"/>
            <a:ext cx="7993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Part A</a:t>
            </a:r>
          </a:p>
        </p:txBody>
      </p:sp>
    </p:spTree>
    <p:extLst>
      <p:ext uri="{BB962C8B-B14F-4D97-AF65-F5344CB8AC3E}">
        <p14:creationId xmlns:p14="http://schemas.microsoft.com/office/powerpoint/2010/main" val="41631546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D7F28-9847-2CCA-B84B-315397C7C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plastic object with a orange cap&#10;&#10;AI-generated content may be incorrect.">
            <a:extLst>
              <a:ext uri="{FF2B5EF4-FFF2-40B4-BE49-F238E27FC236}">
                <a16:creationId xmlns:a16="http://schemas.microsoft.com/office/drawing/2014/main" id="{48424354-C55B-090E-8B18-55C8CAB9B8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686" b="15406"/>
          <a:stretch>
            <a:fillRect/>
          </a:stretch>
        </p:blipFill>
        <p:spPr>
          <a:xfrm>
            <a:off x="326571" y="2449286"/>
            <a:ext cx="7772400" cy="4016829"/>
          </a:xfrm>
          <a:prstGeom prst="rect">
            <a:avLst/>
          </a:prstGeom>
        </p:spPr>
      </p:pic>
      <p:pic>
        <p:nvPicPr>
          <p:cNvPr id="5" name="Picture 4" descr="A black and orange object on a metal surface&#10;&#10;AI-generated content may be incorrect.">
            <a:extLst>
              <a:ext uri="{FF2B5EF4-FFF2-40B4-BE49-F238E27FC236}">
                <a16:creationId xmlns:a16="http://schemas.microsoft.com/office/drawing/2014/main" id="{710B55C1-4CD2-6FE2-86BE-EB64B25D43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042" r="50000" b="8519"/>
          <a:stretch>
            <a:fillRect/>
          </a:stretch>
        </p:blipFill>
        <p:spPr>
          <a:xfrm rot="5400000">
            <a:off x="7815942" y="2721428"/>
            <a:ext cx="3429000" cy="37773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2D2AAC-005B-9B52-E437-02B3770DD8BF}"/>
              </a:ext>
            </a:extLst>
          </p:cNvPr>
          <p:cNvSpPr txBox="1"/>
          <p:nvPr/>
        </p:nvSpPr>
        <p:spPr>
          <a:xfrm>
            <a:off x="500744" y="859971"/>
            <a:ext cx="101237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11: Prepare 3D printed parts C, D, and F as shown below on the left. Place parts C and D over the upright section of part  A and thread the screw through the holes. Make sure part D locks into the boom arm and that the rough side of part D is against the rough side of part A.</a:t>
            </a:r>
          </a:p>
        </p:txBody>
      </p:sp>
    </p:spTree>
    <p:extLst>
      <p:ext uri="{BB962C8B-B14F-4D97-AF65-F5344CB8AC3E}">
        <p14:creationId xmlns:p14="http://schemas.microsoft.com/office/powerpoint/2010/main" val="15905186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71D25-06D1-1113-2D08-AE8774FA3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and orange plastic arm with orange wheels&#10;&#10;AI-generated content may be incorrect.">
            <a:extLst>
              <a:ext uri="{FF2B5EF4-FFF2-40B4-BE49-F238E27FC236}">
                <a16:creationId xmlns:a16="http://schemas.microsoft.com/office/drawing/2014/main" id="{54442663-0F4D-8637-1414-74DD57DEE3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079" b="13399"/>
          <a:stretch>
            <a:fillRect/>
          </a:stretch>
        </p:blipFill>
        <p:spPr>
          <a:xfrm>
            <a:off x="258535" y="2462531"/>
            <a:ext cx="6858000" cy="414169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46256A-8672-9B71-DE16-857F7995E50B}"/>
              </a:ext>
            </a:extLst>
          </p:cNvPr>
          <p:cNvSpPr txBox="1"/>
          <p:nvPr/>
        </p:nvSpPr>
        <p:spPr>
          <a:xfrm>
            <a:off x="407895" y="658906"/>
            <a:ext cx="109952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41100"/>
                </a:solidFill>
              </a:rPr>
              <a:t>Step 12: Slide 3D printed part B over the end of the boom arm (part C) and thread the second screw (F) through the holes.</a:t>
            </a:r>
          </a:p>
        </p:txBody>
      </p:sp>
      <p:pic>
        <p:nvPicPr>
          <p:cNvPr id="6" name="Picture 5" descr="A black and orange metal object with a black handle&#10;&#10;AI-generated content may be incorrect.">
            <a:extLst>
              <a:ext uri="{FF2B5EF4-FFF2-40B4-BE49-F238E27FC236}">
                <a16:creationId xmlns:a16="http://schemas.microsoft.com/office/drawing/2014/main" id="{3B8F063E-E2C6-7CBE-0037-AFBDC962DD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032" r="17302"/>
          <a:stretch>
            <a:fillRect/>
          </a:stretch>
        </p:blipFill>
        <p:spPr>
          <a:xfrm rot="5400000">
            <a:off x="7178603" y="1961628"/>
            <a:ext cx="4366223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38363D0-7DD4-63CC-F816-EEAA99E7B0CD}"/>
              </a:ext>
            </a:extLst>
          </p:cNvPr>
          <p:cNvSpPr txBox="1"/>
          <p:nvPr/>
        </p:nvSpPr>
        <p:spPr>
          <a:xfrm>
            <a:off x="407895" y="1480062"/>
            <a:ext cx="9067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41100"/>
                </a:solidFill>
              </a:rPr>
              <a:t>Step 13: Glue one of the y-axis components into the slot in part B. Be careful not to get glue into the mechanism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1153F4B-EF80-7C81-3858-DA2C6F0589C8}"/>
              </a:ext>
            </a:extLst>
          </p:cNvPr>
          <p:cNvCxnSpPr/>
          <p:nvPr/>
        </p:nvCxnSpPr>
        <p:spPr>
          <a:xfrm>
            <a:off x="7979229" y="1926771"/>
            <a:ext cx="587828" cy="1807029"/>
          </a:xfrm>
          <a:prstGeom prst="straightConnector1">
            <a:avLst/>
          </a:prstGeom>
          <a:ln w="38100">
            <a:solidFill>
              <a:srgbClr val="9411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92759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5B67A-92A2-816F-6076-3DF667584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robot arm with wires and a syringe&#10;&#10;AI-generated content may be incorrect.">
            <a:extLst>
              <a:ext uri="{FF2B5EF4-FFF2-40B4-BE49-F238E27FC236}">
                <a16:creationId xmlns:a16="http://schemas.microsoft.com/office/drawing/2014/main" id="{955FEA36-287A-6003-02C8-0EFE6F79B1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091" t="9228" r="15975" b="8881"/>
          <a:stretch>
            <a:fillRect/>
          </a:stretch>
        </p:blipFill>
        <p:spPr>
          <a:xfrm>
            <a:off x="1796143" y="195310"/>
            <a:ext cx="7469367" cy="6467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204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552</Words>
  <Application>Microsoft Macintosh PowerPoint</Application>
  <PresentationFormat>Widescreen</PresentationFormat>
  <Paragraphs>46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Ryan, James</dc:creator>
  <cp:lastModifiedBy>Ryan, James</cp:lastModifiedBy>
  <cp:revision>1</cp:revision>
  <dcterms:created xsi:type="dcterms:W3CDTF">2025-11-17T17:39:48Z</dcterms:created>
  <dcterms:modified xsi:type="dcterms:W3CDTF">2025-11-17T18:42:04Z</dcterms:modified>
</cp:coreProperties>
</file>