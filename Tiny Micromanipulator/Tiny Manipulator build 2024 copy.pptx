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80" r:id="rId2"/>
    <p:sldId id="257" r:id="rId3"/>
    <p:sldId id="260" r:id="rId4"/>
    <p:sldId id="261" r:id="rId5"/>
    <p:sldId id="258" r:id="rId6"/>
    <p:sldId id="264" r:id="rId7"/>
    <p:sldId id="262" r:id="rId8"/>
    <p:sldId id="263" r:id="rId9"/>
    <p:sldId id="265" r:id="rId10"/>
    <p:sldId id="266" r:id="rId11"/>
    <p:sldId id="267" r:id="rId12"/>
    <p:sldId id="268" r:id="rId13"/>
    <p:sldId id="270" r:id="rId14"/>
    <p:sldId id="27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120"/>
    <p:restoredTop sz="94583"/>
  </p:normalViewPr>
  <p:slideViewPr>
    <p:cSldViewPr snapToGrid="0">
      <p:cViewPr varScale="1">
        <p:scale>
          <a:sx n="118" d="100"/>
          <a:sy n="118" d="100"/>
        </p:scale>
        <p:origin x="336" y="200"/>
      </p:cViewPr>
      <p:guideLst/>
    </p:cSldViewPr>
  </p:slid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7F966-C67A-D757-FA4D-7DA1BFB97B4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E9ED230-E7B6-22C6-AE07-2B798978B7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A8C456B-B94F-A0A1-6525-6A6D7013A220}"/>
              </a:ext>
            </a:extLst>
          </p:cNvPr>
          <p:cNvSpPr>
            <a:spLocks noGrp="1"/>
          </p:cNvSpPr>
          <p:nvPr>
            <p:ph type="dt" sz="half" idx="10"/>
          </p:nvPr>
        </p:nvSpPr>
        <p:spPr/>
        <p:txBody>
          <a:bodyPr/>
          <a:lstStyle/>
          <a:p>
            <a:fld id="{5E2CC837-5E0F-2F49-9AF6-BDBA6CFBA00A}" type="datetimeFigureOut">
              <a:rPr lang="en-US" smtClean="0"/>
              <a:t>11/18/25</a:t>
            </a:fld>
            <a:endParaRPr lang="en-US"/>
          </a:p>
        </p:txBody>
      </p:sp>
      <p:sp>
        <p:nvSpPr>
          <p:cNvPr id="5" name="Footer Placeholder 4">
            <a:extLst>
              <a:ext uri="{FF2B5EF4-FFF2-40B4-BE49-F238E27FC236}">
                <a16:creationId xmlns:a16="http://schemas.microsoft.com/office/drawing/2014/main" id="{706E358F-F30A-DD9E-AB03-F95969919D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FE915C-698C-4E97-9DBB-C2D598D4E6E6}"/>
              </a:ext>
            </a:extLst>
          </p:cNvPr>
          <p:cNvSpPr>
            <a:spLocks noGrp="1"/>
          </p:cNvSpPr>
          <p:nvPr>
            <p:ph type="sldNum" sz="quarter" idx="12"/>
          </p:nvPr>
        </p:nvSpPr>
        <p:spPr/>
        <p:txBody>
          <a:bodyPr/>
          <a:lstStyle/>
          <a:p>
            <a:fld id="{A9A880E3-89C1-7740-AB3D-BC8DF8BB8C69}" type="slidenum">
              <a:rPr lang="en-US" smtClean="0"/>
              <a:t>‹#›</a:t>
            </a:fld>
            <a:endParaRPr lang="en-US"/>
          </a:p>
        </p:txBody>
      </p:sp>
    </p:spTree>
    <p:extLst>
      <p:ext uri="{BB962C8B-B14F-4D97-AF65-F5344CB8AC3E}">
        <p14:creationId xmlns:p14="http://schemas.microsoft.com/office/powerpoint/2010/main" val="27765161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BCFEC-3663-A6C7-6292-B40F3CBE99F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39FA8BA-0125-8E8E-6C02-CE6569B087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5CDC46-6CEF-50E8-3868-9DB9499FDB54}"/>
              </a:ext>
            </a:extLst>
          </p:cNvPr>
          <p:cNvSpPr>
            <a:spLocks noGrp="1"/>
          </p:cNvSpPr>
          <p:nvPr>
            <p:ph type="dt" sz="half" idx="10"/>
          </p:nvPr>
        </p:nvSpPr>
        <p:spPr/>
        <p:txBody>
          <a:bodyPr/>
          <a:lstStyle/>
          <a:p>
            <a:fld id="{5E2CC837-5E0F-2F49-9AF6-BDBA6CFBA00A}" type="datetimeFigureOut">
              <a:rPr lang="en-US" smtClean="0"/>
              <a:t>11/18/25</a:t>
            </a:fld>
            <a:endParaRPr lang="en-US"/>
          </a:p>
        </p:txBody>
      </p:sp>
      <p:sp>
        <p:nvSpPr>
          <p:cNvPr id="5" name="Footer Placeholder 4">
            <a:extLst>
              <a:ext uri="{FF2B5EF4-FFF2-40B4-BE49-F238E27FC236}">
                <a16:creationId xmlns:a16="http://schemas.microsoft.com/office/drawing/2014/main" id="{895C8FE4-3804-C330-7679-E2FFA9D1F6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66DEDA-3CBB-ECB3-3D69-9A68A77FD074}"/>
              </a:ext>
            </a:extLst>
          </p:cNvPr>
          <p:cNvSpPr>
            <a:spLocks noGrp="1"/>
          </p:cNvSpPr>
          <p:nvPr>
            <p:ph type="sldNum" sz="quarter" idx="12"/>
          </p:nvPr>
        </p:nvSpPr>
        <p:spPr/>
        <p:txBody>
          <a:bodyPr/>
          <a:lstStyle/>
          <a:p>
            <a:fld id="{A9A880E3-89C1-7740-AB3D-BC8DF8BB8C69}" type="slidenum">
              <a:rPr lang="en-US" smtClean="0"/>
              <a:t>‹#›</a:t>
            </a:fld>
            <a:endParaRPr lang="en-US"/>
          </a:p>
        </p:txBody>
      </p:sp>
    </p:spTree>
    <p:extLst>
      <p:ext uri="{BB962C8B-B14F-4D97-AF65-F5344CB8AC3E}">
        <p14:creationId xmlns:p14="http://schemas.microsoft.com/office/powerpoint/2010/main" val="8596462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65546-AD55-E7C0-FAC8-AD6886F3C54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E42795B-34B7-BD8B-7341-1390B381A2C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5B5998D-2D48-8789-6095-F0E8012B8693}"/>
              </a:ext>
            </a:extLst>
          </p:cNvPr>
          <p:cNvSpPr>
            <a:spLocks noGrp="1"/>
          </p:cNvSpPr>
          <p:nvPr>
            <p:ph type="dt" sz="half" idx="10"/>
          </p:nvPr>
        </p:nvSpPr>
        <p:spPr/>
        <p:txBody>
          <a:bodyPr/>
          <a:lstStyle/>
          <a:p>
            <a:fld id="{5E2CC837-5E0F-2F49-9AF6-BDBA6CFBA00A}" type="datetimeFigureOut">
              <a:rPr lang="en-US" smtClean="0"/>
              <a:t>11/18/25</a:t>
            </a:fld>
            <a:endParaRPr lang="en-US"/>
          </a:p>
        </p:txBody>
      </p:sp>
      <p:sp>
        <p:nvSpPr>
          <p:cNvPr id="5" name="Footer Placeholder 4">
            <a:extLst>
              <a:ext uri="{FF2B5EF4-FFF2-40B4-BE49-F238E27FC236}">
                <a16:creationId xmlns:a16="http://schemas.microsoft.com/office/drawing/2014/main" id="{341FA8D3-97E5-C336-86F9-1D51925A70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2A7BDE-CB69-65F0-FADF-E9A8F2D78F1D}"/>
              </a:ext>
            </a:extLst>
          </p:cNvPr>
          <p:cNvSpPr>
            <a:spLocks noGrp="1"/>
          </p:cNvSpPr>
          <p:nvPr>
            <p:ph type="sldNum" sz="quarter" idx="12"/>
          </p:nvPr>
        </p:nvSpPr>
        <p:spPr/>
        <p:txBody>
          <a:bodyPr/>
          <a:lstStyle/>
          <a:p>
            <a:fld id="{A9A880E3-89C1-7740-AB3D-BC8DF8BB8C69}" type="slidenum">
              <a:rPr lang="en-US" smtClean="0"/>
              <a:t>‹#›</a:t>
            </a:fld>
            <a:endParaRPr lang="en-US"/>
          </a:p>
        </p:txBody>
      </p:sp>
    </p:spTree>
    <p:extLst>
      <p:ext uri="{BB962C8B-B14F-4D97-AF65-F5344CB8AC3E}">
        <p14:creationId xmlns:p14="http://schemas.microsoft.com/office/powerpoint/2010/main" val="3216763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7EF53-CFC2-E35B-DE2A-FB57E574C8B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EF39E4-8BD9-4736-393B-657F383617E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CD395FA-B3E0-D760-35D8-B893E087B95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E3A9532-54B1-067B-A35A-B1938F789570}"/>
              </a:ext>
            </a:extLst>
          </p:cNvPr>
          <p:cNvSpPr>
            <a:spLocks noGrp="1"/>
          </p:cNvSpPr>
          <p:nvPr>
            <p:ph type="dt" sz="half" idx="10"/>
          </p:nvPr>
        </p:nvSpPr>
        <p:spPr/>
        <p:txBody>
          <a:bodyPr/>
          <a:lstStyle/>
          <a:p>
            <a:fld id="{5E2CC837-5E0F-2F49-9AF6-BDBA6CFBA00A}" type="datetimeFigureOut">
              <a:rPr lang="en-US" smtClean="0"/>
              <a:t>11/18/25</a:t>
            </a:fld>
            <a:endParaRPr lang="en-US"/>
          </a:p>
        </p:txBody>
      </p:sp>
      <p:sp>
        <p:nvSpPr>
          <p:cNvPr id="6" name="Footer Placeholder 5">
            <a:extLst>
              <a:ext uri="{FF2B5EF4-FFF2-40B4-BE49-F238E27FC236}">
                <a16:creationId xmlns:a16="http://schemas.microsoft.com/office/drawing/2014/main" id="{49388E63-3500-EF2A-9B33-04F75E39A6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36A2A5-1FCB-6E3B-3B7B-AC1DA242CAD6}"/>
              </a:ext>
            </a:extLst>
          </p:cNvPr>
          <p:cNvSpPr>
            <a:spLocks noGrp="1"/>
          </p:cNvSpPr>
          <p:nvPr>
            <p:ph type="sldNum" sz="quarter" idx="12"/>
          </p:nvPr>
        </p:nvSpPr>
        <p:spPr/>
        <p:txBody>
          <a:bodyPr/>
          <a:lstStyle/>
          <a:p>
            <a:fld id="{A9A880E3-89C1-7740-AB3D-BC8DF8BB8C69}" type="slidenum">
              <a:rPr lang="en-US" smtClean="0"/>
              <a:t>‹#›</a:t>
            </a:fld>
            <a:endParaRPr lang="en-US"/>
          </a:p>
        </p:txBody>
      </p:sp>
    </p:spTree>
    <p:extLst>
      <p:ext uri="{BB962C8B-B14F-4D97-AF65-F5344CB8AC3E}">
        <p14:creationId xmlns:p14="http://schemas.microsoft.com/office/powerpoint/2010/main" val="21025572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B3770-CFCC-946F-F38A-3814A8498E3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C534317-DFB5-1D65-3AE7-46913C3FA81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9A9B606-F4EF-DF87-B53C-52B1E39863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09C40E7-AEA8-5647-6D7A-C605CB4912D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A2E5DE4-7DBE-FD84-7B18-C971ABAEBFF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E540FDF-C6C8-C86C-C56F-BE05A50BFA9B}"/>
              </a:ext>
            </a:extLst>
          </p:cNvPr>
          <p:cNvSpPr>
            <a:spLocks noGrp="1"/>
          </p:cNvSpPr>
          <p:nvPr>
            <p:ph type="dt" sz="half" idx="10"/>
          </p:nvPr>
        </p:nvSpPr>
        <p:spPr/>
        <p:txBody>
          <a:bodyPr/>
          <a:lstStyle/>
          <a:p>
            <a:fld id="{5E2CC837-5E0F-2F49-9AF6-BDBA6CFBA00A}" type="datetimeFigureOut">
              <a:rPr lang="en-US" smtClean="0"/>
              <a:t>11/18/25</a:t>
            </a:fld>
            <a:endParaRPr lang="en-US"/>
          </a:p>
        </p:txBody>
      </p:sp>
      <p:sp>
        <p:nvSpPr>
          <p:cNvPr id="8" name="Footer Placeholder 7">
            <a:extLst>
              <a:ext uri="{FF2B5EF4-FFF2-40B4-BE49-F238E27FC236}">
                <a16:creationId xmlns:a16="http://schemas.microsoft.com/office/drawing/2014/main" id="{2C8BE1C5-59F7-FED1-F0C5-DA21A227989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417961B-A2D5-420A-3860-742A20A4FF3B}"/>
              </a:ext>
            </a:extLst>
          </p:cNvPr>
          <p:cNvSpPr>
            <a:spLocks noGrp="1"/>
          </p:cNvSpPr>
          <p:nvPr>
            <p:ph type="sldNum" sz="quarter" idx="12"/>
          </p:nvPr>
        </p:nvSpPr>
        <p:spPr/>
        <p:txBody>
          <a:bodyPr/>
          <a:lstStyle/>
          <a:p>
            <a:fld id="{A9A880E3-89C1-7740-AB3D-BC8DF8BB8C69}" type="slidenum">
              <a:rPr lang="en-US" smtClean="0"/>
              <a:t>‹#›</a:t>
            </a:fld>
            <a:endParaRPr lang="en-US"/>
          </a:p>
        </p:txBody>
      </p:sp>
    </p:spTree>
    <p:extLst>
      <p:ext uri="{BB962C8B-B14F-4D97-AF65-F5344CB8AC3E}">
        <p14:creationId xmlns:p14="http://schemas.microsoft.com/office/powerpoint/2010/main" val="1246260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2CAAF-50E1-E8A1-BE14-2404881018F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3786E88-C70D-F0C3-1DBB-B2EE3A66CE99}"/>
              </a:ext>
            </a:extLst>
          </p:cNvPr>
          <p:cNvSpPr>
            <a:spLocks noGrp="1"/>
          </p:cNvSpPr>
          <p:nvPr>
            <p:ph type="dt" sz="half" idx="10"/>
          </p:nvPr>
        </p:nvSpPr>
        <p:spPr/>
        <p:txBody>
          <a:bodyPr/>
          <a:lstStyle/>
          <a:p>
            <a:fld id="{5E2CC837-5E0F-2F49-9AF6-BDBA6CFBA00A}" type="datetimeFigureOut">
              <a:rPr lang="en-US" smtClean="0"/>
              <a:t>11/18/25</a:t>
            </a:fld>
            <a:endParaRPr lang="en-US"/>
          </a:p>
        </p:txBody>
      </p:sp>
      <p:sp>
        <p:nvSpPr>
          <p:cNvPr id="4" name="Footer Placeholder 3">
            <a:extLst>
              <a:ext uri="{FF2B5EF4-FFF2-40B4-BE49-F238E27FC236}">
                <a16:creationId xmlns:a16="http://schemas.microsoft.com/office/drawing/2014/main" id="{B29FE0EC-A489-5ECC-C734-5FD02C750F1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E814526-5A41-B8A6-A56F-2BA226E1E180}"/>
              </a:ext>
            </a:extLst>
          </p:cNvPr>
          <p:cNvSpPr>
            <a:spLocks noGrp="1"/>
          </p:cNvSpPr>
          <p:nvPr>
            <p:ph type="sldNum" sz="quarter" idx="12"/>
          </p:nvPr>
        </p:nvSpPr>
        <p:spPr/>
        <p:txBody>
          <a:bodyPr/>
          <a:lstStyle/>
          <a:p>
            <a:fld id="{A9A880E3-89C1-7740-AB3D-BC8DF8BB8C69}" type="slidenum">
              <a:rPr lang="en-US" smtClean="0"/>
              <a:t>‹#›</a:t>
            </a:fld>
            <a:endParaRPr lang="en-US"/>
          </a:p>
        </p:txBody>
      </p:sp>
    </p:spTree>
    <p:extLst>
      <p:ext uri="{BB962C8B-B14F-4D97-AF65-F5344CB8AC3E}">
        <p14:creationId xmlns:p14="http://schemas.microsoft.com/office/powerpoint/2010/main" val="30899730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3EFFE8-FA9B-7A07-4C6A-D65C0DEF533C}"/>
              </a:ext>
            </a:extLst>
          </p:cNvPr>
          <p:cNvSpPr>
            <a:spLocks noGrp="1"/>
          </p:cNvSpPr>
          <p:nvPr>
            <p:ph type="dt" sz="half" idx="10"/>
          </p:nvPr>
        </p:nvSpPr>
        <p:spPr/>
        <p:txBody>
          <a:bodyPr/>
          <a:lstStyle/>
          <a:p>
            <a:fld id="{5E2CC837-5E0F-2F49-9AF6-BDBA6CFBA00A}" type="datetimeFigureOut">
              <a:rPr lang="en-US" smtClean="0"/>
              <a:t>11/18/25</a:t>
            </a:fld>
            <a:endParaRPr lang="en-US"/>
          </a:p>
        </p:txBody>
      </p:sp>
      <p:sp>
        <p:nvSpPr>
          <p:cNvPr id="3" name="Footer Placeholder 2">
            <a:extLst>
              <a:ext uri="{FF2B5EF4-FFF2-40B4-BE49-F238E27FC236}">
                <a16:creationId xmlns:a16="http://schemas.microsoft.com/office/drawing/2014/main" id="{E8869D18-B78B-7C72-E84F-1F963B066AC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F5CA2C3-9B28-32A2-B38E-7AE6B4FD1E34}"/>
              </a:ext>
            </a:extLst>
          </p:cNvPr>
          <p:cNvSpPr>
            <a:spLocks noGrp="1"/>
          </p:cNvSpPr>
          <p:nvPr>
            <p:ph type="sldNum" sz="quarter" idx="12"/>
          </p:nvPr>
        </p:nvSpPr>
        <p:spPr/>
        <p:txBody>
          <a:bodyPr/>
          <a:lstStyle/>
          <a:p>
            <a:fld id="{A9A880E3-89C1-7740-AB3D-BC8DF8BB8C69}" type="slidenum">
              <a:rPr lang="en-US" smtClean="0"/>
              <a:t>‹#›</a:t>
            </a:fld>
            <a:endParaRPr lang="en-US"/>
          </a:p>
        </p:txBody>
      </p:sp>
    </p:spTree>
    <p:extLst>
      <p:ext uri="{BB962C8B-B14F-4D97-AF65-F5344CB8AC3E}">
        <p14:creationId xmlns:p14="http://schemas.microsoft.com/office/powerpoint/2010/main" val="19980833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244D3-43FC-1442-F588-3E7F2CD34D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AAD98B6-D03C-02CE-36B6-EDC8EBF6754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84C8597-6BF2-B78F-EDAC-8C6D0B7EA8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BEAB02-2AF5-B5A0-4508-C5D482C2A227}"/>
              </a:ext>
            </a:extLst>
          </p:cNvPr>
          <p:cNvSpPr>
            <a:spLocks noGrp="1"/>
          </p:cNvSpPr>
          <p:nvPr>
            <p:ph type="dt" sz="half" idx="10"/>
          </p:nvPr>
        </p:nvSpPr>
        <p:spPr/>
        <p:txBody>
          <a:bodyPr/>
          <a:lstStyle/>
          <a:p>
            <a:fld id="{5E2CC837-5E0F-2F49-9AF6-BDBA6CFBA00A}" type="datetimeFigureOut">
              <a:rPr lang="en-US" smtClean="0"/>
              <a:t>11/18/25</a:t>
            </a:fld>
            <a:endParaRPr lang="en-US"/>
          </a:p>
        </p:txBody>
      </p:sp>
      <p:sp>
        <p:nvSpPr>
          <p:cNvPr id="6" name="Footer Placeholder 5">
            <a:extLst>
              <a:ext uri="{FF2B5EF4-FFF2-40B4-BE49-F238E27FC236}">
                <a16:creationId xmlns:a16="http://schemas.microsoft.com/office/drawing/2014/main" id="{C4AACEF5-2397-D6D4-4270-1162F770EC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23CA1A-5FFC-BBE7-210D-E663B9191895}"/>
              </a:ext>
            </a:extLst>
          </p:cNvPr>
          <p:cNvSpPr>
            <a:spLocks noGrp="1"/>
          </p:cNvSpPr>
          <p:nvPr>
            <p:ph type="sldNum" sz="quarter" idx="12"/>
          </p:nvPr>
        </p:nvSpPr>
        <p:spPr/>
        <p:txBody>
          <a:bodyPr/>
          <a:lstStyle/>
          <a:p>
            <a:fld id="{A9A880E3-89C1-7740-AB3D-BC8DF8BB8C69}" type="slidenum">
              <a:rPr lang="en-US" smtClean="0"/>
              <a:t>‹#›</a:t>
            </a:fld>
            <a:endParaRPr lang="en-US"/>
          </a:p>
        </p:txBody>
      </p:sp>
    </p:spTree>
    <p:extLst>
      <p:ext uri="{BB962C8B-B14F-4D97-AF65-F5344CB8AC3E}">
        <p14:creationId xmlns:p14="http://schemas.microsoft.com/office/powerpoint/2010/main" val="30915574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A5096-5205-B726-E3A4-011C84FF35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526AD2D-6B85-4677-10DD-9E8043E8A4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F6AB8AC-C788-3CDF-0017-2BD42E639A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87D6E2-AB18-B154-93E3-E396C1DC8042}"/>
              </a:ext>
            </a:extLst>
          </p:cNvPr>
          <p:cNvSpPr>
            <a:spLocks noGrp="1"/>
          </p:cNvSpPr>
          <p:nvPr>
            <p:ph type="dt" sz="half" idx="10"/>
          </p:nvPr>
        </p:nvSpPr>
        <p:spPr/>
        <p:txBody>
          <a:bodyPr/>
          <a:lstStyle/>
          <a:p>
            <a:fld id="{5E2CC837-5E0F-2F49-9AF6-BDBA6CFBA00A}" type="datetimeFigureOut">
              <a:rPr lang="en-US" smtClean="0"/>
              <a:t>11/18/25</a:t>
            </a:fld>
            <a:endParaRPr lang="en-US"/>
          </a:p>
        </p:txBody>
      </p:sp>
      <p:sp>
        <p:nvSpPr>
          <p:cNvPr id="6" name="Footer Placeholder 5">
            <a:extLst>
              <a:ext uri="{FF2B5EF4-FFF2-40B4-BE49-F238E27FC236}">
                <a16:creationId xmlns:a16="http://schemas.microsoft.com/office/drawing/2014/main" id="{57571CE7-C407-3F70-37D7-E493B6537B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0A117D-CFFF-F419-FC62-8333E76AB84E}"/>
              </a:ext>
            </a:extLst>
          </p:cNvPr>
          <p:cNvSpPr>
            <a:spLocks noGrp="1"/>
          </p:cNvSpPr>
          <p:nvPr>
            <p:ph type="sldNum" sz="quarter" idx="12"/>
          </p:nvPr>
        </p:nvSpPr>
        <p:spPr/>
        <p:txBody>
          <a:bodyPr/>
          <a:lstStyle/>
          <a:p>
            <a:fld id="{A9A880E3-89C1-7740-AB3D-BC8DF8BB8C69}" type="slidenum">
              <a:rPr lang="en-US" smtClean="0"/>
              <a:t>‹#›</a:t>
            </a:fld>
            <a:endParaRPr lang="en-US"/>
          </a:p>
        </p:txBody>
      </p:sp>
    </p:spTree>
    <p:extLst>
      <p:ext uri="{BB962C8B-B14F-4D97-AF65-F5344CB8AC3E}">
        <p14:creationId xmlns:p14="http://schemas.microsoft.com/office/powerpoint/2010/main" val="13417033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E289A-9053-74AA-D1CE-B1FC8A8E5E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75CD4CA-00AE-FF59-F573-7F54DBC1F25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AA5CC6-083B-3534-E64A-FB0F27E69EF7}"/>
              </a:ext>
            </a:extLst>
          </p:cNvPr>
          <p:cNvSpPr>
            <a:spLocks noGrp="1"/>
          </p:cNvSpPr>
          <p:nvPr>
            <p:ph type="dt" sz="half" idx="10"/>
          </p:nvPr>
        </p:nvSpPr>
        <p:spPr/>
        <p:txBody>
          <a:bodyPr/>
          <a:lstStyle/>
          <a:p>
            <a:fld id="{5E2CC837-5E0F-2F49-9AF6-BDBA6CFBA00A}" type="datetimeFigureOut">
              <a:rPr lang="en-US" smtClean="0"/>
              <a:t>11/18/25</a:t>
            </a:fld>
            <a:endParaRPr lang="en-US"/>
          </a:p>
        </p:txBody>
      </p:sp>
      <p:sp>
        <p:nvSpPr>
          <p:cNvPr id="5" name="Footer Placeholder 4">
            <a:extLst>
              <a:ext uri="{FF2B5EF4-FFF2-40B4-BE49-F238E27FC236}">
                <a16:creationId xmlns:a16="http://schemas.microsoft.com/office/drawing/2014/main" id="{563C92F6-A3E6-3353-78F3-648AB9FE16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C20B8C-2CFE-E933-0777-0EEA0BC9A0AB}"/>
              </a:ext>
            </a:extLst>
          </p:cNvPr>
          <p:cNvSpPr>
            <a:spLocks noGrp="1"/>
          </p:cNvSpPr>
          <p:nvPr>
            <p:ph type="sldNum" sz="quarter" idx="12"/>
          </p:nvPr>
        </p:nvSpPr>
        <p:spPr/>
        <p:txBody>
          <a:bodyPr/>
          <a:lstStyle/>
          <a:p>
            <a:fld id="{A9A880E3-89C1-7740-AB3D-BC8DF8BB8C69}" type="slidenum">
              <a:rPr lang="en-US" smtClean="0"/>
              <a:t>‹#›</a:t>
            </a:fld>
            <a:endParaRPr lang="en-US"/>
          </a:p>
        </p:txBody>
      </p:sp>
    </p:spTree>
    <p:extLst>
      <p:ext uri="{BB962C8B-B14F-4D97-AF65-F5344CB8AC3E}">
        <p14:creationId xmlns:p14="http://schemas.microsoft.com/office/powerpoint/2010/main" val="15797552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F9C8D77-885F-8806-F815-A8041251C8A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CEE46A4-777E-AB7F-3663-94C954E16BF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93B7BA-B528-D2BF-7154-D1F49094DD9B}"/>
              </a:ext>
            </a:extLst>
          </p:cNvPr>
          <p:cNvSpPr>
            <a:spLocks noGrp="1"/>
          </p:cNvSpPr>
          <p:nvPr>
            <p:ph type="dt" sz="half" idx="10"/>
          </p:nvPr>
        </p:nvSpPr>
        <p:spPr/>
        <p:txBody>
          <a:bodyPr/>
          <a:lstStyle/>
          <a:p>
            <a:fld id="{5E2CC837-5E0F-2F49-9AF6-BDBA6CFBA00A}" type="datetimeFigureOut">
              <a:rPr lang="en-US" smtClean="0"/>
              <a:t>11/18/25</a:t>
            </a:fld>
            <a:endParaRPr lang="en-US"/>
          </a:p>
        </p:txBody>
      </p:sp>
      <p:sp>
        <p:nvSpPr>
          <p:cNvPr id="5" name="Footer Placeholder 4">
            <a:extLst>
              <a:ext uri="{FF2B5EF4-FFF2-40B4-BE49-F238E27FC236}">
                <a16:creationId xmlns:a16="http://schemas.microsoft.com/office/drawing/2014/main" id="{550603C4-C446-9332-DDE2-10C46080AC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C09991-6DD4-9133-4C9A-DD06E97A7EF1}"/>
              </a:ext>
            </a:extLst>
          </p:cNvPr>
          <p:cNvSpPr>
            <a:spLocks noGrp="1"/>
          </p:cNvSpPr>
          <p:nvPr>
            <p:ph type="sldNum" sz="quarter" idx="12"/>
          </p:nvPr>
        </p:nvSpPr>
        <p:spPr/>
        <p:txBody>
          <a:bodyPr/>
          <a:lstStyle/>
          <a:p>
            <a:fld id="{A9A880E3-89C1-7740-AB3D-BC8DF8BB8C69}" type="slidenum">
              <a:rPr lang="en-US" smtClean="0"/>
              <a:t>‹#›</a:t>
            </a:fld>
            <a:endParaRPr lang="en-US"/>
          </a:p>
        </p:txBody>
      </p:sp>
    </p:spTree>
    <p:extLst>
      <p:ext uri="{BB962C8B-B14F-4D97-AF65-F5344CB8AC3E}">
        <p14:creationId xmlns:p14="http://schemas.microsoft.com/office/powerpoint/2010/main" val="13860199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2FBDA8-626D-2B67-C8A0-EBD6622815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4453FD1-6761-5F83-8394-1E29234079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CD63DA-EBD2-647E-F7BA-90F987AA61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2CC837-5E0F-2F49-9AF6-BDBA6CFBA00A}" type="datetimeFigureOut">
              <a:rPr lang="en-US" smtClean="0"/>
              <a:t>11/18/25</a:t>
            </a:fld>
            <a:endParaRPr lang="en-US"/>
          </a:p>
        </p:txBody>
      </p:sp>
      <p:sp>
        <p:nvSpPr>
          <p:cNvPr id="5" name="Footer Placeholder 4">
            <a:extLst>
              <a:ext uri="{FF2B5EF4-FFF2-40B4-BE49-F238E27FC236}">
                <a16:creationId xmlns:a16="http://schemas.microsoft.com/office/drawing/2014/main" id="{73485F78-DB98-2E74-D946-E15C97EBF2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2F0702C-E61A-4D7A-B6CC-9611CA2127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A880E3-89C1-7740-AB3D-BC8DF8BB8C69}" type="slidenum">
              <a:rPr lang="en-US" smtClean="0"/>
              <a:t>‹#›</a:t>
            </a:fld>
            <a:endParaRPr lang="en-US"/>
          </a:p>
        </p:txBody>
      </p:sp>
    </p:spTree>
    <p:extLst>
      <p:ext uri="{BB962C8B-B14F-4D97-AF65-F5344CB8AC3E}">
        <p14:creationId xmlns:p14="http://schemas.microsoft.com/office/powerpoint/2010/main" val="7390221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67C89B8A-94FF-95FF-0DCC-AEAB5A7A2281}"/>
              </a:ext>
            </a:extLst>
          </p:cNvPr>
          <p:cNvSpPr txBox="1"/>
          <p:nvPr/>
        </p:nvSpPr>
        <p:spPr>
          <a:xfrm>
            <a:off x="5297762" y="640080"/>
            <a:ext cx="6251110" cy="3566160"/>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5400">
                <a:latin typeface="+mj-lt"/>
                <a:ea typeface="+mj-ea"/>
                <a:cs typeface="+mj-cs"/>
              </a:rPr>
              <a:t>DIY – Building the “Tiny” micromanipulator</a:t>
            </a:r>
          </a:p>
        </p:txBody>
      </p:sp>
      <p:pic>
        <p:nvPicPr>
          <p:cNvPr id="4" name="Picture 3" descr="A small metal object with a handle&#10;&#10;AI-generated content may be incorrect.">
            <a:extLst>
              <a:ext uri="{FF2B5EF4-FFF2-40B4-BE49-F238E27FC236}">
                <a16:creationId xmlns:a16="http://schemas.microsoft.com/office/drawing/2014/main" id="{AC88A5C3-A80C-15FF-E4E0-CF6D15280BFD}"/>
              </a:ext>
            </a:extLst>
          </p:cNvPr>
          <p:cNvPicPr>
            <a:picLocks noChangeAspect="1"/>
          </p:cNvPicPr>
          <p:nvPr/>
        </p:nvPicPr>
        <p:blipFill>
          <a:blip r:embed="rId2"/>
          <a:srcRect l="2978" r="6171"/>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2862" y="4409267"/>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753664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hand holding a black square object&#10;&#10;Description automatically generated with medium confidence">
            <a:extLst>
              <a:ext uri="{FF2B5EF4-FFF2-40B4-BE49-F238E27FC236}">
                <a16:creationId xmlns:a16="http://schemas.microsoft.com/office/drawing/2014/main" id="{D3D4D85D-F339-3F36-3C9C-C1A845D1A04E}"/>
              </a:ext>
            </a:extLst>
          </p:cNvPr>
          <p:cNvPicPr>
            <a:picLocks noChangeAspect="1"/>
          </p:cNvPicPr>
          <p:nvPr/>
        </p:nvPicPr>
        <p:blipFill>
          <a:blip r:embed="rId2"/>
          <a:stretch>
            <a:fillRect/>
          </a:stretch>
        </p:blipFill>
        <p:spPr>
          <a:xfrm>
            <a:off x="0" y="-743166"/>
            <a:ext cx="9455334" cy="8344331"/>
          </a:xfrm>
          <a:prstGeom prst="rect">
            <a:avLst/>
          </a:prstGeom>
        </p:spPr>
      </p:pic>
      <p:sp>
        <p:nvSpPr>
          <p:cNvPr id="4" name="TextBox 3">
            <a:extLst>
              <a:ext uri="{FF2B5EF4-FFF2-40B4-BE49-F238E27FC236}">
                <a16:creationId xmlns:a16="http://schemas.microsoft.com/office/drawing/2014/main" id="{8506A616-0FD5-8149-6343-6D410321C347}"/>
              </a:ext>
            </a:extLst>
          </p:cNvPr>
          <p:cNvSpPr txBox="1"/>
          <p:nvPr/>
        </p:nvSpPr>
        <p:spPr>
          <a:xfrm>
            <a:off x="390919" y="152255"/>
            <a:ext cx="1544334" cy="523220"/>
          </a:xfrm>
          <a:prstGeom prst="rect">
            <a:avLst/>
          </a:prstGeom>
          <a:solidFill>
            <a:schemeClr val="accent2"/>
          </a:solidFill>
        </p:spPr>
        <p:txBody>
          <a:bodyPr wrap="none" rtlCol="0">
            <a:spAutoFit/>
          </a:bodyPr>
          <a:lstStyle/>
          <a:p>
            <a:r>
              <a:rPr lang="en-US" sz="2800" dirty="0"/>
              <a:t>The Parts</a:t>
            </a:r>
          </a:p>
        </p:txBody>
      </p:sp>
      <p:sp>
        <p:nvSpPr>
          <p:cNvPr id="2" name="TextBox 1">
            <a:extLst>
              <a:ext uri="{FF2B5EF4-FFF2-40B4-BE49-F238E27FC236}">
                <a16:creationId xmlns:a16="http://schemas.microsoft.com/office/drawing/2014/main" id="{1DAB4512-33F4-741D-F423-C073F0FBB299}"/>
              </a:ext>
            </a:extLst>
          </p:cNvPr>
          <p:cNvSpPr txBox="1"/>
          <p:nvPr/>
        </p:nvSpPr>
        <p:spPr>
          <a:xfrm>
            <a:off x="9306604" y="867456"/>
            <a:ext cx="2608599" cy="830997"/>
          </a:xfrm>
          <a:prstGeom prst="rect">
            <a:avLst/>
          </a:prstGeom>
          <a:solidFill>
            <a:schemeClr val="accent2"/>
          </a:solidFill>
        </p:spPr>
        <p:txBody>
          <a:bodyPr wrap="none" rtlCol="0">
            <a:spAutoFit/>
          </a:bodyPr>
          <a:lstStyle/>
          <a:p>
            <a:r>
              <a:rPr lang="en-US" sz="2400" dirty="0"/>
              <a:t>3 - 3D printed parts</a:t>
            </a:r>
          </a:p>
          <a:p>
            <a:r>
              <a:rPr lang="en-US" sz="2400" dirty="0"/>
              <a:t>-print at 80% infill</a:t>
            </a:r>
          </a:p>
        </p:txBody>
      </p:sp>
      <p:sp>
        <p:nvSpPr>
          <p:cNvPr id="5" name="TextBox 4">
            <a:extLst>
              <a:ext uri="{FF2B5EF4-FFF2-40B4-BE49-F238E27FC236}">
                <a16:creationId xmlns:a16="http://schemas.microsoft.com/office/drawing/2014/main" id="{229FF445-379C-7BE5-6C2E-A7F2F5290BAF}"/>
              </a:ext>
            </a:extLst>
          </p:cNvPr>
          <p:cNvSpPr txBox="1"/>
          <p:nvPr/>
        </p:nvSpPr>
        <p:spPr>
          <a:xfrm>
            <a:off x="8882743" y="3690257"/>
            <a:ext cx="2691571" cy="461665"/>
          </a:xfrm>
          <a:prstGeom prst="rect">
            <a:avLst/>
          </a:prstGeom>
          <a:solidFill>
            <a:schemeClr val="accent2"/>
          </a:solidFill>
        </p:spPr>
        <p:txBody>
          <a:bodyPr wrap="none" rtlCol="0">
            <a:spAutoFit/>
          </a:bodyPr>
          <a:lstStyle/>
          <a:p>
            <a:r>
              <a:rPr lang="en-US" sz="2400" dirty="0"/>
              <a:t>3 small linear stages</a:t>
            </a:r>
          </a:p>
        </p:txBody>
      </p:sp>
      <p:sp>
        <p:nvSpPr>
          <p:cNvPr id="6" name="TextBox 5">
            <a:extLst>
              <a:ext uri="{FF2B5EF4-FFF2-40B4-BE49-F238E27FC236}">
                <a16:creationId xmlns:a16="http://schemas.microsoft.com/office/drawing/2014/main" id="{374297A8-B0D2-2F69-23C5-05A52CC73F80}"/>
              </a:ext>
            </a:extLst>
          </p:cNvPr>
          <p:cNvSpPr txBox="1"/>
          <p:nvPr/>
        </p:nvSpPr>
        <p:spPr>
          <a:xfrm>
            <a:off x="7587343" y="5531711"/>
            <a:ext cx="3986971" cy="923330"/>
          </a:xfrm>
          <a:prstGeom prst="rect">
            <a:avLst/>
          </a:prstGeom>
          <a:solidFill>
            <a:schemeClr val="accent2"/>
          </a:solidFill>
        </p:spPr>
        <p:txBody>
          <a:bodyPr wrap="square" rtlCol="0">
            <a:spAutoFit/>
          </a:bodyPr>
          <a:lstStyle/>
          <a:p>
            <a:r>
              <a:rPr lang="en-US" dirty="0"/>
              <a:t>https://</a:t>
            </a:r>
            <a:r>
              <a:rPr lang="en-US" dirty="0" err="1"/>
              <a:t>www.alibaba.com</a:t>
            </a:r>
            <a:r>
              <a:rPr lang="en-US" dirty="0"/>
              <a:t>/product-detail/PT-SD10-Miniature-Manual-Linear-Stage_60537789251.html</a:t>
            </a:r>
          </a:p>
        </p:txBody>
      </p:sp>
    </p:spTree>
    <p:extLst>
      <p:ext uri="{BB962C8B-B14F-4D97-AF65-F5344CB8AC3E}">
        <p14:creationId xmlns:p14="http://schemas.microsoft.com/office/powerpoint/2010/main" val="5638447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person holding a stick and drawing&#10;&#10;Description automatically generated">
            <a:extLst>
              <a:ext uri="{FF2B5EF4-FFF2-40B4-BE49-F238E27FC236}">
                <a16:creationId xmlns:a16="http://schemas.microsoft.com/office/drawing/2014/main" id="{9EE2C550-92C8-6F83-AE57-817611E70261}"/>
              </a:ext>
            </a:extLst>
          </p:cNvPr>
          <p:cNvPicPr>
            <a:picLocks noChangeAspect="1"/>
          </p:cNvPicPr>
          <p:nvPr/>
        </p:nvPicPr>
        <p:blipFill rotWithShape="1">
          <a:blip r:embed="rId2"/>
          <a:srcRect t="1334"/>
          <a:stretch/>
        </p:blipFill>
        <p:spPr>
          <a:xfrm>
            <a:off x="20" y="1282"/>
            <a:ext cx="12191980" cy="6856718"/>
          </a:xfrm>
          <a:prstGeom prst="rect">
            <a:avLst/>
          </a:prstGeom>
        </p:spPr>
      </p:pic>
      <p:sp>
        <p:nvSpPr>
          <p:cNvPr id="4" name="TextBox 3">
            <a:extLst>
              <a:ext uri="{FF2B5EF4-FFF2-40B4-BE49-F238E27FC236}">
                <a16:creationId xmlns:a16="http://schemas.microsoft.com/office/drawing/2014/main" id="{82B16860-2C9F-E0E4-809F-FFB0E9E06EE1}"/>
              </a:ext>
            </a:extLst>
          </p:cNvPr>
          <p:cNvSpPr txBox="1"/>
          <p:nvPr/>
        </p:nvSpPr>
        <p:spPr>
          <a:xfrm>
            <a:off x="670560" y="1792224"/>
            <a:ext cx="5187702" cy="646331"/>
          </a:xfrm>
          <a:prstGeom prst="rect">
            <a:avLst/>
          </a:prstGeom>
          <a:solidFill>
            <a:schemeClr val="accent2"/>
          </a:solidFill>
        </p:spPr>
        <p:txBody>
          <a:bodyPr wrap="none" rtlCol="0">
            <a:spAutoFit/>
          </a:bodyPr>
          <a:lstStyle/>
          <a:p>
            <a:r>
              <a:rPr lang="en-US" dirty="0"/>
              <a:t>4) Butter epoxy onto the small top plate of one stage.</a:t>
            </a:r>
          </a:p>
          <a:p>
            <a:r>
              <a:rPr lang="en-US" dirty="0"/>
              <a:t>     - do not get much epoxy into the six little holes</a:t>
            </a:r>
          </a:p>
        </p:txBody>
      </p:sp>
    </p:spTree>
    <p:extLst>
      <p:ext uri="{BB962C8B-B14F-4D97-AF65-F5344CB8AC3E}">
        <p14:creationId xmlns:p14="http://schemas.microsoft.com/office/powerpoint/2010/main" val="31821043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drawing of a feather with a paintbrush next to a piece of paper&#10;&#10;Description automatically generated">
            <a:extLst>
              <a:ext uri="{FF2B5EF4-FFF2-40B4-BE49-F238E27FC236}">
                <a16:creationId xmlns:a16="http://schemas.microsoft.com/office/drawing/2014/main" id="{34EA14B0-57C8-75D8-8DEF-BA7AD04F0AF7}"/>
              </a:ext>
            </a:extLst>
          </p:cNvPr>
          <p:cNvPicPr>
            <a:picLocks noChangeAspect="1"/>
          </p:cNvPicPr>
          <p:nvPr/>
        </p:nvPicPr>
        <p:blipFill rotWithShape="1">
          <a:blip r:embed="rId2"/>
          <a:srcRect t="4480" b="14890"/>
          <a:stretch/>
        </p:blipFill>
        <p:spPr>
          <a:xfrm>
            <a:off x="20" y="1282"/>
            <a:ext cx="12191980" cy="6856718"/>
          </a:xfrm>
          <a:prstGeom prst="rect">
            <a:avLst/>
          </a:prstGeom>
        </p:spPr>
      </p:pic>
      <p:sp>
        <p:nvSpPr>
          <p:cNvPr id="4" name="TextBox 3">
            <a:extLst>
              <a:ext uri="{FF2B5EF4-FFF2-40B4-BE49-F238E27FC236}">
                <a16:creationId xmlns:a16="http://schemas.microsoft.com/office/drawing/2014/main" id="{65B63486-300D-1A7F-2B07-59DFAA0BBF3D}"/>
              </a:ext>
            </a:extLst>
          </p:cNvPr>
          <p:cNvSpPr txBox="1"/>
          <p:nvPr/>
        </p:nvSpPr>
        <p:spPr>
          <a:xfrm>
            <a:off x="1182624" y="670560"/>
            <a:ext cx="8114594" cy="646331"/>
          </a:xfrm>
          <a:prstGeom prst="rect">
            <a:avLst/>
          </a:prstGeom>
          <a:solidFill>
            <a:schemeClr val="accent2"/>
          </a:solidFill>
        </p:spPr>
        <p:txBody>
          <a:bodyPr wrap="none" rtlCol="0">
            <a:spAutoFit/>
          </a:bodyPr>
          <a:lstStyle/>
          <a:p>
            <a:r>
              <a:rPr lang="en-US" dirty="0"/>
              <a:t>5) Place a second linear stage onto the small top plate of the stage you just buttered </a:t>
            </a:r>
          </a:p>
          <a:p>
            <a:r>
              <a:rPr lang="en-US" dirty="0"/>
              <a:t>    ORIENTED 90 DEGREES TO LOWER STAGE</a:t>
            </a:r>
          </a:p>
        </p:txBody>
      </p:sp>
    </p:spTree>
    <p:extLst>
      <p:ext uri="{BB962C8B-B14F-4D97-AF65-F5344CB8AC3E}">
        <p14:creationId xmlns:p14="http://schemas.microsoft.com/office/powerpoint/2010/main" val="19238456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finger pointing at a piece of chocolate&#10;&#10;Description automatically generated">
            <a:extLst>
              <a:ext uri="{FF2B5EF4-FFF2-40B4-BE49-F238E27FC236}">
                <a16:creationId xmlns:a16="http://schemas.microsoft.com/office/drawing/2014/main" id="{4B2A4DF8-FF91-1D25-9AFE-DA77C23C1E54}"/>
              </a:ext>
            </a:extLst>
          </p:cNvPr>
          <p:cNvPicPr>
            <a:picLocks noChangeAspect="1"/>
          </p:cNvPicPr>
          <p:nvPr/>
        </p:nvPicPr>
        <p:blipFill>
          <a:blip r:embed="rId2"/>
          <a:stretch>
            <a:fillRect/>
          </a:stretch>
        </p:blipFill>
        <p:spPr>
          <a:xfrm>
            <a:off x="741405" y="457441"/>
            <a:ext cx="10843222" cy="6017500"/>
          </a:xfrm>
          <a:prstGeom prst="rect">
            <a:avLst/>
          </a:prstGeom>
        </p:spPr>
      </p:pic>
      <p:sp>
        <p:nvSpPr>
          <p:cNvPr id="4" name="Left Arrow 3">
            <a:extLst>
              <a:ext uri="{FF2B5EF4-FFF2-40B4-BE49-F238E27FC236}">
                <a16:creationId xmlns:a16="http://schemas.microsoft.com/office/drawing/2014/main" id="{43013186-43EE-F93B-C165-2FAFF9138C48}"/>
              </a:ext>
            </a:extLst>
          </p:cNvPr>
          <p:cNvSpPr/>
          <p:nvPr/>
        </p:nvSpPr>
        <p:spPr>
          <a:xfrm>
            <a:off x="6966739" y="3429000"/>
            <a:ext cx="1556952" cy="420130"/>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D938DCE-D7D4-52C1-2478-996CE41E291C}"/>
              </a:ext>
            </a:extLst>
          </p:cNvPr>
          <p:cNvSpPr txBox="1"/>
          <p:nvPr/>
        </p:nvSpPr>
        <p:spPr>
          <a:xfrm>
            <a:off x="1146048" y="1645920"/>
            <a:ext cx="2987040" cy="369332"/>
          </a:xfrm>
          <a:prstGeom prst="rect">
            <a:avLst/>
          </a:prstGeom>
          <a:solidFill>
            <a:schemeClr val="accent2"/>
          </a:solidFill>
        </p:spPr>
        <p:txBody>
          <a:bodyPr wrap="square" rtlCol="0">
            <a:spAutoFit/>
          </a:bodyPr>
          <a:lstStyle/>
          <a:p>
            <a:r>
              <a:rPr lang="en-US" dirty="0"/>
              <a:t>1)  Mix 2 part, 5-min epoxy</a:t>
            </a:r>
          </a:p>
        </p:txBody>
      </p:sp>
      <p:sp>
        <p:nvSpPr>
          <p:cNvPr id="6" name="TextBox 5">
            <a:extLst>
              <a:ext uri="{FF2B5EF4-FFF2-40B4-BE49-F238E27FC236}">
                <a16:creationId xmlns:a16="http://schemas.microsoft.com/office/drawing/2014/main" id="{1892BF80-692A-6F73-15F4-CE5042B5D1EE}"/>
              </a:ext>
            </a:extLst>
          </p:cNvPr>
          <p:cNvSpPr txBox="1"/>
          <p:nvPr/>
        </p:nvSpPr>
        <p:spPr>
          <a:xfrm>
            <a:off x="5439446" y="1389223"/>
            <a:ext cx="5238935" cy="646331"/>
          </a:xfrm>
          <a:prstGeom prst="rect">
            <a:avLst/>
          </a:prstGeom>
          <a:solidFill>
            <a:schemeClr val="accent2"/>
          </a:solidFill>
        </p:spPr>
        <p:txBody>
          <a:bodyPr wrap="none" rtlCol="0">
            <a:spAutoFit/>
          </a:bodyPr>
          <a:lstStyle/>
          <a:p>
            <a:r>
              <a:rPr lang="en-US" dirty="0"/>
              <a:t>2) Butter epoxy onto non-hole side of 3D printed base</a:t>
            </a:r>
          </a:p>
          <a:p>
            <a:r>
              <a:rPr lang="en-US" dirty="0"/>
              <a:t>     see blue arrow</a:t>
            </a:r>
          </a:p>
        </p:txBody>
      </p:sp>
      <p:sp>
        <p:nvSpPr>
          <p:cNvPr id="8" name="TextBox 7">
            <a:extLst>
              <a:ext uri="{FF2B5EF4-FFF2-40B4-BE49-F238E27FC236}">
                <a16:creationId xmlns:a16="http://schemas.microsoft.com/office/drawing/2014/main" id="{4EB30E20-DFA7-0069-FD65-E585781378B9}"/>
              </a:ext>
            </a:extLst>
          </p:cNvPr>
          <p:cNvSpPr txBox="1"/>
          <p:nvPr/>
        </p:nvSpPr>
        <p:spPr>
          <a:xfrm>
            <a:off x="6400800" y="5547360"/>
            <a:ext cx="4564839" cy="369332"/>
          </a:xfrm>
          <a:prstGeom prst="rect">
            <a:avLst/>
          </a:prstGeom>
          <a:solidFill>
            <a:schemeClr val="accent2"/>
          </a:solidFill>
        </p:spPr>
        <p:txBody>
          <a:bodyPr wrap="none" rtlCol="0">
            <a:spAutoFit/>
          </a:bodyPr>
          <a:lstStyle/>
          <a:p>
            <a:r>
              <a:rPr lang="en-US" dirty="0"/>
              <a:t>3) Place bottom of one linear stage onto epoxy</a:t>
            </a:r>
          </a:p>
        </p:txBody>
      </p:sp>
    </p:spTree>
    <p:extLst>
      <p:ext uri="{BB962C8B-B14F-4D97-AF65-F5344CB8AC3E}">
        <p14:creationId xmlns:p14="http://schemas.microsoft.com/office/powerpoint/2010/main" val="4159956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hand holding a black object next to a piece of paper&#10;&#10;Description automatically generated">
            <a:extLst>
              <a:ext uri="{FF2B5EF4-FFF2-40B4-BE49-F238E27FC236}">
                <a16:creationId xmlns:a16="http://schemas.microsoft.com/office/drawing/2014/main" id="{7ABA1F9A-5CBD-141A-8F10-6E8DB1A3605B}"/>
              </a:ext>
            </a:extLst>
          </p:cNvPr>
          <p:cNvPicPr>
            <a:picLocks noChangeAspect="1"/>
          </p:cNvPicPr>
          <p:nvPr/>
        </p:nvPicPr>
        <p:blipFill rotWithShape="1">
          <a:blip r:embed="rId2"/>
          <a:srcRect t="10666" r="1" b="17645"/>
          <a:stretch/>
        </p:blipFill>
        <p:spPr>
          <a:xfrm>
            <a:off x="196850" y="173518"/>
            <a:ext cx="11798300" cy="6512763"/>
          </a:xfrm>
          <a:prstGeom prst="rect">
            <a:avLst/>
          </a:prstGeom>
        </p:spPr>
      </p:pic>
      <p:sp>
        <p:nvSpPr>
          <p:cNvPr id="4" name="TextBox 3">
            <a:extLst>
              <a:ext uri="{FF2B5EF4-FFF2-40B4-BE49-F238E27FC236}">
                <a16:creationId xmlns:a16="http://schemas.microsoft.com/office/drawing/2014/main" id="{5FC9A65F-431E-BE43-EBEE-FD024EAF8A34}"/>
              </a:ext>
            </a:extLst>
          </p:cNvPr>
          <p:cNvSpPr txBox="1"/>
          <p:nvPr/>
        </p:nvSpPr>
        <p:spPr>
          <a:xfrm>
            <a:off x="5409617" y="841248"/>
            <a:ext cx="5829096" cy="369332"/>
          </a:xfrm>
          <a:prstGeom prst="rect">
            <a:avLst/>
          </a:prstGeom>
          <a:solidFill>
            <a:schemeClr val="accent2"/>
          </a:solidFill>
        </p:spPr>
        <p:txBody>
          <a:bodyPr wrap="none" rtlCol="0">
            <a:spAutoFit/>
          </a:bodyPr>
          <a:lstStyle/>
          <a:p>
            <a:r>
              <a:rPr lang="en-US" dirty="0"/>
              <a:t>It should now look like this – PUT ASIDE AND LET EPOXY DRY</a:t>
            </a:r>
          </a:p>
        </p:txBody>
      </p:sp>
    </p:spTree>
    <p:extLst>
      <p:ext uri="{BB962C8B-B14F-4D97-AF65-F5344CB8AC3E}">
        <p14:creationId xmlns:p14="http://schemas.microsoft.com/office/powerpoint/2010/main" val="5683778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person painting a circle with a brush&#10;&#10;Description automatically generated">
            <a:extLst>
              <a:ext uri="{FF2B5EF4-FFF2-40B4-BE49-F238E27FC236}">
                <a16:creationId xmlns:a16="http://schemas.microsoft.com/office/drawing/2014/main" id="{07620581-188F-D27D-3E7C-D4E85985471E}"/>
              </a:ext>
            </a:extLst>
          </p:cNvPr>
          <p:cNvPicPr>
            <a:picLocks noChangeAspect="1"/>
          </p:cNvPicPr>
          <p:nvPr/>
        </p:nvPicPr>
        <p:blipFill rotWithShape="1">
          <a:blip r:embed="rId2"/>
          <a:srcRect t="9296" r="1" b="24397"/>
          <a:stretch/>
        </p:blipFill>
        <p:spPr>
          <a:xfrm>
            <a:off x="196850" y="173518"/>
            <a:ext cx="11798300" cy="6512763"/>
          </a:xfrm>
          <a:prstGeom prst="rect">
            <a:avLst/>
          </a:prstGeom>
        </p:spPr>
      </p:pic>
      <p:sp>
        <p:nvSpPr>
          <p:cNvPr id="4" name="TextBox 3">
            <a:extLst>
              <a:ext uri="{FF2B5EF4-FFF2-40B4-BE49-F238E27FC236}">
                <a16:creationId xmlns:a16="http://schemas.microsoft.com/office/drawing/2014/main" id="{945E967B-3D6F-1143-622C-959539562158}"/>
              </a:ext>
            </a:extLst>
          </p:cNvPr>
          <p:cNvSpPr txBox="1"/>
          <p:nvPr/>
        </p:nvSpPr>
        <p:spPr>
          <a:xfrm>
            <a:off x="938784" y="3864864"/>
            <a:ext cx="5732403" cy="369332"/>
          </a:xfrm>
          <a:prstGeom prst="rect">
            <a:avLst/>
          </a:prstGeom>
          <a:solidFill>
            <a:schemeClr val="accent2"/>
          </a:solidFill>
        </p:spPr>
        <p:txBody>
          <a:bodyPr wrap="none" rtlCol="0">
            <a:spAutoFit/>
          </a:bodyPr>
          <a:lstStyle/>
          <a:p>
            <a:r>
              <a:rPr lang="en-US" dirty="0"/>
              <a:t>7) Butter epoxy on the back of the small 3D printed square.</a:t>
            </a:r>
          </a:p>
        </p:txBody>
      </p:sp>
    </p:spTree>
    <p:extLst>
      <p:ext uri="{BB962C8B-B14F-4D97-AF65-F5344CB8AC3E}">
        <p14:creationId xmlns:p14="http://schemas.microsoft.com/office/powerpoint/2010/main" val="40532619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brush painting a black ink on a piece of paper&#10;&#10;Description automatically generated">
            <a:extLst>
              <a:ext uri="{FF2B5EF4-FFF2-40B4-BE49-F238E27FC236}">
                <a16:creationId xmlns:a16="http://schemas.microsoft.com/office/drawing/2014/main" id="{2D3E8BB7-F1FD-8C2A-1530-540DD92C0480}"/>
              </a:ext>
            </a:extLst>
          </p:cNvPr>
          <p:cNvPicPr>
            <a:picLocks noChangeAspect="1"/>
          </p:cNvPicPr>
          <p:nvPr/>
        </p:nvPicPr>
        <p:blipFill rotWithShape="1">
          <a:blip r:embed="rId2"/>
          <a:srcRect t="13418" b="5952"/>
          <a:stretch/>
        </p:blipFill>
        <p:spPr>
          <a:xfrm>
            <a:off x="20" y="1282"/>
            <a:ext cx="12191980" cy="6856718"/>
          </a:xfrm>
          <a:prstGeom prst="rect">
            <a:avLst/>
          </a:prstGeom>
        </p:spPr>
      </p:pic>
      <p:sp>
        <p:nvSpPr>
          <p:cNvPr id="4" name="TextBox 3">
            <a:extLst>
              <a:ext uri="{FF2B5EF4-FFF2-40B4-BE49-F238E27FC236}">
                <a16:creationId xmlns:a16="http://schemas.microsoft.com/office/drawing/2014/main" id="{BCF9FF64-5D8A-C710-4FF3-45900DE0A929}"/>
              </a:ext>
            </a:extLst>
          </p:cNvPr>
          <p:cNvSpPr txBox="1"/>
          <p:nvPr/>
        </p:nvSpPr>
        <p:spPr>
          <a:xfrm>
            <a:off x="4852416" y="670560"/>
            <a:ext cx="6998208" cy="923330"/>
          </a:xfrm>
          <a:prstGeom prst="rect">
            <a:avLst/>
          </a:prstGeom>
          <a:solidFill>
            <a:schemeClr val="accent2"/>
          </a:solidFill>
        </p:spPr>
        <p:txBody>
          <a:bodyPr wrap="square" rtlCol="0">
            <a:spAutoFit/>
          </a:bodyPr>
          <a:lstStyle/>
          <a:p>
            <a:r>
              <a:rPr lang="en-US" dirty="0"/>
              <a:t>8). Place the epoxy side of the square down onto the third moveable square of the linear stage as shown below. Try not to get lots of epoxy into the six holes on the stage.</a:t>
            </a:r>
          </a:p>
        </p:txBody>
      </p:sp>
      <p:sp>
        <p:nvSpPr>
          <p:cNvPr id="5" name="TextBox 4">
            <a:extLst>
              <a:ext uri="{FF2B5EF4-FFF2-40B4-BE49-F238E27FC236}">
                <a16:creationId xmlns:a16="http://schemas.microsoft.com/office/drawing/2014/main" id="{5C9B5EDE-F763-0374-7A95-45B53B4D18F6}"/>
              </a:ext>
            </a:extLst>
          </p:cNvPr>
          <p:cNvSpPr txBox="1"/>
          <p:nvPr/>
        </p:nvSpPr>
        <p:spPr>
          <a:xfrm>
            <a:off x="6230112" y="5120640"/>
            <a:ext cx="2761269" cy="584775"/>
          </a:xfrm>
          <a:prstGeom prst="rect">
            <a:avLst/>
          </a:prstGeom>
          <a:solidFill>
            <a:schemeClr val="accent4">
              <a:lumMod val="40000"/>
              <a:lumOff val="60000"/>
            </a:schemeClr>
          </a:solidFill>
        </p:spPr>
        <p:txBody>
          <a:bodyPr wrap="none" rtlCol="0">
            <a:spAutoFit/>
          </a:bodyPr>
          <a:lstStyle/>
          <a:p>
            <a:r>
              <a:rPr lang="en-US" sz="3200" dirty="0"/>
              <a:t>Set aside to dry</a:t>
            </a:r>
          </a:p>
        </p:txBody>
      </p:sp>
    </p:spTree>
    <p:extLst>
      <p:ext uri="{BB962C8B-B14F-4D97-AF65-F5344CB8AC3E}">
        <p14:creationId xmlns:p14="http://schemas.microsoft.com/office/powerpoint/2010/main" val="9978472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hand holding a small piece of metal&#10;&#10;Description automatically generated">
            <a:extLst>
              <a:ext uri="{FF2B5EF4-FFF2-40B4-BE49-F238E27FC236}">
                <a16:creationId xmlns:a16="http://schemas.microsoft.com/office/drawing/2014/main" id="{F8EDC4BF-AF4C-23C1-0D96-9F5C6BB2AF39}"/>
              </a:ext>
            </a:extLst>
          </p:cNvPr>
          <p:cNvPicPr>
            <a:picLocks noChangeAspect="1"/>
          </p:cNvPicPr>
          <p:nvPr/>
        </p:nvPicPr>
        <p:blipFill rotWithShape="1">
          <a:blip r:embed="rId2"/>
          <a:srcRect t="2439" b="10368"/>
          <a:stretch/>
        </p:blipFill>
        <p:spPr>
          <a:xfrm>
            <a:off x="20" y="1282"/>
            <a:ext cx="12191980" cy="6856718"/>
          </a:xfrm>
          <a:prstGeom prst="rect">
            <a:avLst/>
          </a:prstGeom>
        </p:spPr>
      </p:pic>
      <p:sp>
        <p:nvSpPr>
          <p:cNvPr id="4" name="TextBox 3">
            <a:extLst>
              <a:ext uri="{FF2B5EF4-FFF2-40B4-BE49-F238E27FC236}">
                <a16:creationId xmlns:a16="http://schemas.microsoft.com/office/drawing/2014/main" id="{CBB317C0-DCAA-AB78-1649-FC854E4CB5E9}"/>
              </a:ext>
            </a:extLst>
          </p:cNvPr>
          <p:cNvSpPr txBox="1"/>
          <p:nvPr/>
        </p:nvSpPr>
        <p:spPr>
          <a:xfrm>
            <a:off x="7132321" y="438912"/>
            <a:ext cx="4669536" cy="1477328"/>
          </a:xfrm>
          <a:prstGeom prst="rect">
            <a:avLst/>
          </a:prstGeom>
          <a:solidFill>
            <a:schemeClr val="accent2"/>
          </a:solidFill>
        </p:spPr>
        <p:txBody>
          <a:bodyPr wrap="square" rtlCol="0">
            <a:spAutoFit/>
          </a:bodyPr>
          <a:lstStyle/>
          <a:p>
            <a:r>
              <a:rPr lang="en-US" dirty="0"/>
              <a:t>9)  When all parts are cured (~ 15-20 minutes for 5-minute epoxy) butter fresh epoxy onto the END of the stage with the square 3D printed part (blue arrow) – and place it vertically onto the x-y stage (red arrow).</a:t>
            </a:r>
          </a:p>
        </p:txBody>
      </p:sp>
      <p:sp>
        <p:nvSpPr>
          <p:cNvPr id="5" name="Right Arrow 4">
            <a:extLst>
              <a:ext uri="{FF2B5EF4-FFF2-40B4-BE49-F238E27FC236}">
                <a16:creationId xmlns:a16="http://schemas.microsoft.com/office/drawing/2014/main" id="{731E8EF3-CA2D-2781-81E6-5D5717BA6B75}"/>
              </a:ext>
            </a:extLst>
          </p:cNvPr>
          <p:cNvSpPr/>
          <p:nvPr/>
        </p:nvSpPr>
        <p:spPr>
          <a:xfrm>
            <a:off x="2121408" y="1548384"/>
            <a:ext cx="1548384" cy="43891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own Arrow 5">
            <a:extLst>
              <a:ext uri="{FF2B5EF4-FFF2-40B4-BE49-F238E27FC236}">
                <a16:creationId xmlns:a16="http://schemas.microsoft.com/office/drawing/2014/main" id="{E0A65C29-01FF-0606-C031-C27B278F96F8}"/>
              </a:ext>
            </a:extLst>
          </p:cNvPr>
          <p:cNvSpPr/>
          <p:nvPr/>
        </p:nvSpPr>
        <p:spPr>
          <a:xfrm rot="1938075">
            <a:off x="7900416" y="2863121"/>
            <a:ext cx="573024" cy="1755648"/>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758411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hand holding a small black object&#10;&#10;Description automatically generated">
            <a:extLst>
              <a:ext uri="{FF2B5EF4-FFF2-40B4-BE49-F238E27FC236}">
                <a16:creationId xmlns:a16="http://schemas.microsoft.com/office/drawing/2014/main" id="{D9033CF0-15CC-E7A2-5C0F-73B744F3CFE7}"/>
              </a:ext>
            </a:extLst>
          </p:cNvPr>
          <p:cNvPicPr>
            <a:picLocks noChangeAspect="1"/>
          </p:cNvPicPr>
          <p:nvPr/>
        </p:nvPicPr>
        <p:blipFill>
          <a:blip r:embed="rId2"/>
          <a:stretch>
            <a:fillRect/>
          </a:stretch>
        </p:blipFill>
        <p:spPr>
          <a:xfrm>
            <a:off x="260522" y="1778000"/>
            <a:ext cx="5678880" cy="3906108"/>
          </a:xfrm>
          <a:prstGeom prst="rect">
            <a:avLst/>
          </a:prstGeom>
        </p:spPr>
      </p:pic>
      <p:pic>
        <p:nvPicPr>
          <p:cNvPr id="5" name="Picture 4" descr="A black object with a black object on a blue surface&#10;&#10;Description automatically generated">
            <a:extLst>
              <a:ext uri="{FF2B5EF4-FFF2-40B4-BE49-F238E27FC236}">
                <a16:creationId xmlns:a16="http://schemas.microsoft.com/office/drawing/2014/main" id="{07DC9ED3-1465-8341-289D-DA4FC709F838}"/>
              </a:ext>
            </a:extLst>
          </p:cNvPr>
          <p:cNvPicPr>
            <a:picLocks noChangeAspect="1"/>
          </p:cNvPicPr>
          <p:nvPr/>
        </p:nvPicPr>
        <p:blipFill>
          <a:blip r:embed="rId3"/>
          <a:stretch>
            <a:fillRect/>
          </a:stretch>
        </p:blipFill>
        <p:spPr>
          <a:xfrm>
            <a:off x="5691043" y="1778000"/>
            <a:ext cx="6240435" cy="3906108"/>
          </a:xfrm>
          <a:prstGeom prst="rect">
            <a:avLst/>
          </a:prstGeom>
        </p:spPr>
      </p:pic>
      <p:sp>
        <p:nvSpPr>
          <p:cNvPr id="6" name="TextBox 5">
            <a:extLst>
              <a:ext uri="{FF2B5EF4-FFF2-40B4-BE49-F238E27FC236}">
                <a16:creationId xmlns:a16="http://schemas.microsoft.com/office/drawing/2014/main" id="{92F9A010-A00A-375E-C182-F3AA41D45259}"/>
              </a:ext>
            </a:extLst>
          </p:cNvPr>
          <p:cNvSpPr txBox="1"/>
          <p:nvPr/>
        </p:nvSpPr>
        <p:spPr>
          <a:xfrm>
            <a:off x="3060192" y="890016"/>
            <a:ext cx="6305124" cy="523220"/>
          </a:xfrm>
          <a:prstGeom prst="rect">
            <a:avLst/>
          </a:prstGeom>
          <a:solidFill>
            <a:schemeClr val="accent2"/>
          </a:solidFill>
        </p:spPr>
        <p:txBody>
          <a:bodyPr wrap="none" rtlCol="0">
            <a:spAutoFit/>
          </a:bodyPr>
          <a:lstStyle/>
          <a:p>
            <a:r>
              <a:rPr lang="en-US" sz="2800" dirty="0"/>
              <a:t>You should now have a 3-axis manipulator</a:t>
            </a:r>
          </a:p>
        </p:txBody>
      </p:sp>
      <p:sp>
        <p:nvSpPr>
          <p:cNvPr id="7" name="TextBox 6">
            <a:extLst>
              <a:ext uri="{FF2B5EF4-FFF2-40B4-BE49-F238E27FC236}">
                <a16:creationId xmlns:a16="http://schemas.microsoft.com/office/drawing/2014/main" id="{1693184F-05B0-4B61-A648-7B206BDC4C65}"/>
              </a:ext>
            </a:extLst>
          </p:cNvPr>
          <p:cNvSpPr txBox="1"/>
          <p:nvPr/>
        </p:nvSpPr>
        <p:spPr>
          <a:xfrm>
            <a:off x="4389120" y="5967984"/>
            <a:ext cx="2261966" cy="523220"/>
          </a:xfrm>
          <a:prstGeom prst="rect">
            <a:avLst/>
          </a:prstGeom>
          <a:solidFill>
            <a:srgbClr val="FF0000"/>
          </a:solidFill>
        </p:spPr>
        <p:txBody>
          <a:bodyPr wrap="none" rtlCol="0">
            <a:spAutoFit/>
          </a:bodyPr>
          <a:lstStyle/>
          <a:p>
            <a:r>
              <a:rPr lang="en-US" sz="2800" dirty="0"/>
              <a:t>Let it dry fully</a:t>
            </a:r>
          </a:p>
        </p:txBody>
      </p:sp>
    </p:spTree>
    <p:extLst>
      <p:ext uri="{BB962C8B-B14F-4D97-AF65-F5344CB8AC3E}">
        <p14:creationId xmlns:p14="http://schemas.microsoft.com/office/powerpoint/2010/main" val="28536461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B96FC576-AE30-4C09-A12C-0582F2A6A0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black object with a screw and a screw on a white surface&#10;&#10;Description automatically generated">
            <a:extLst>
              <a:ext uri="{FF2B5EF4-FFF2-40B4-BE49-F238E27FC236}">
                <a16:creationId xmlns:a16="http://schemas.microsoft.com/office/drawing/2014/main" id="{C0CF2647-828B-1163-3F90-44116A86D43E}"/>
              </a:ext>
            </a:extLst>
          </p:cNvPr>
          <p:cNvPicPr>
            <a:picLocks noChangeAspect="1"/>
          </p:cNvPicPr>
          <p:nvPr/>
        </p:nvPicPr>
        <p:blipFill rotWithShape="1">
          <a:blip r:embed="rId2"/>
          <a:srcRect r="2" b="9322"/>
          <a:stretch/>
        </p:blipFill>
        <p:spPr>
          <a:xfrm>
            <a:off x="-144780" y="10"/>
            <a:ext cx="6099048" cy="3428990"/>
          </a:xfrm>
          <a:prstGeom prst="rect">
            <a:avLst/>
          </a:prstGeom>
        </p:spPr>
      </p:pic>
      <p:pic>
        <p:nvPicPr>
          <p:cNvPr id="5" name="Picture 4" descr="A person holding a small round object&#10;&#10;Description automatically generated">
            <a:extLst>
              <a:ext uri="{FF2B5EF4-FFF2-40B4-BE49-F238E27FC236}">
                <a16:creationId xmlns:a16="http://schemas.microsoft.com/office/drawing/2014/main" id="{8B94D085-0D94-47E7-908D-0A32C2EC610D}"/>
              </a:ext>
            </a:extLst>
          </p:cNvPr>
          <p:cNvPicPr>
            <a:picLocks noChangeAspect="1"/>
          </p:cNvPicPr>
          <p:nvPr/>
        </p:nvPicPr>
        <p:blipFill rotWithShape="1">
          <a:blip r:embed="rId3"/>
          <a:srcRect t="7836" r="2" b="1118"/>
          <a:stretch/>
        </p:blipFill>
        <p:spPr>
          <a:xfrm>
            <a:off x="6092952" y="10"/>
            <a:ext cx="6099048" cy="3428990"/>
          </a:xfrm>
          <a:prstGeom prst="rect">
            <a:avLst/>
          </a:prstGeom>
        </p:spPr>
      </p:pic>
      <p:pic>
        <p:nvPicPr>
          <p:cNvPr id="7" name="Picture 6" descr="A hand holding a black object&#10;&#10;Description automatically generated">
            <a:extLst>
              <a:ext uri="{FF2B5EF4-FFF2-40B4-BE49-F238E27FC236}">
                <a16:creationId xmlns:a16="http://schemas.microsoft.com/office/drawing/2014/main" id="{193D5106-0E38-ED9A-9396-1B314B3ABA61}"/>
              </a:ext>
            </a:extLst>
          </p:cNvPr>
          <p:cNvPicPr>
            <a:picLocks noChangeAspect="1"/>
          </p:cNvPicPr>
          <p:nvPr/>
        </p:nvPicPr>
        <p:blipFill rotWithShape="1">
          <a:blip r:embed="rId4"/>
          <a:srcRect r="2" b="10761"/>
          <a:stretch/>
        </p:blipFill>
        <p:spPr>
          <a:xfrm>
            <a:off x="1" y="3429000"/>
            <a:ext cx="6099048" cy="3429000"/>
          </a:xfrm>
          <a:prstGeom prst="rect">
            <a:avLst/>
          </a:prstGeom>
        </p:spPr>
      </p:pic>
      <p:pic>
        <p:nvPicPr>
          <p:cNvPr id="9" name="Picture 8" descr="A hand holding a black object&#10;&#10;Description automatically generated">
            <a:extLst>
              <a:ext uri="{FF2B5EF4-FFF2-40B4-BE49-F238E27FC236}">
                <a16:creationId xmlns:a16="http://schemas.microsoft.com/office/drawing/2014/main" id="{9FF12047-EC2B-4C5A-577D-39A4A9DA8F7E}"/>
              </a:ext>
            </a:extLst>
          </p:cNvPr>
          <p:cNvPicPr>
            <a:picLocks noChangeAspect="1"/>
          </p:cNvPicPr>
          <p:nvPr/>
        </p:nvPicPr>
        <p:blipFill rotWithShape="1">
          <a:blip r:embed="rId5"/>
          <a:srcRect l="10839" r="6009" b="1"/>
          <a:stretch/>
        </p:blipFill>
        <p:spPr>
          <a:xfrm>
            <a:off x="6092952" y="3429000"/>
            <a:ext cx="6099048" cy="3429000"/>
          </a:xfrm>
          <a:prstGeom prst="rect">
            <a:avLst/>
          </a:prstGeom>
        </p:spPr>
      </p:pic>
      <p:sp>
        <p:nvSpPr>
          <p:cNvPr id="10" name="TextBox 9">
            <a:extLst>
              <a:ext uri="{FF2B5EF4-FFF2-40B4-BE49-F238E27FC236}">
                <a16:creationId xmlns:a16="http://schemas.microsoft.com/office/drawing/2014/main" id="{98FC8796-2E51-D5C7-4571-EF6AD0081F01}"/>
              </a:ext>
            </a:extLst>
          </p:cNvPr>
          <p:cNvSpPr txBox="1"/>
          <p:nvPr/>
        </p:nvSpPr>
        <p:spPr>
          <a:xfrm>
            <a:off x="2243328" y="97536"/>
            <a:ext cx="3572256" cy="1200329"/>
          </a:xfrm>
          <a:prstGeom prst="rect">
            <a:avLst/>
          </a:prstGeom>
          <a:solidFill>
            <a:schemeClr val="accent2"/>
          </a:solidFill>
        </p:spPr>
        <p:txBody>
          <a:bodyPr wrap="square" rtlCol="0">
            <a:spAutoFit/>
          </a:bodyPr>
          <a:lstStyle/>
          <a:p>
            <a:r>
              <a:rPr lang="en-US" dirty="0"/>
              <a:t>10)  The circular 3D printed part is the Probe Holder. There are 2 screws needed to mount the holder to the 3-axis manipulator. </a:t>
            </a:r>
          </a:p>
        </p:txBody>
      </p:sp>
      <p:sp>
        <p:nvSpPr>
          <p:cNvPr id="11" name="TextBox 10">
            <a:extLst>
              <a:ext uri="{FF2B5EF4-FFF2-40B4-BE49-F238E27FC236}">
                <a16:creationId xmlns:a16="http://schemas.microsoft.com/office/drawing/2014/main" id="{0B258B51-8F3C-6B71-F6F3-215E3F10FB89}"/>
              </a:ext>
            </a:extLst>
          </p:cNvPr>
          <p:cNvSpPr txBox="1"/>
          <p:nvPr/>
        </p:nvSpPr>
        <p:spPr>
          <a:xfrm>
            <a:off x="6656833" y="2157984"/>
            <a:ext cx="4925568" cy="646331"/>
          </a:xfrm>
          <a:prstGeom prst="rect">
            <a:avLst/>
          </a:prstGeom>
          <a:solidFill>
            <a:schemeClr val="accent2"/>
          </a:solidFill>
        </p:spPr>
        <p:txBody>
          <a:bodyPr wrap="square" rtlCol="0">
            <a:spAutoFit/>
          </a:bodyPr>
          <a:lstStyle/>
          <a:p>
            <a:r>
              <a:rPr lang="en-US" dirty="0"/>
              <a:t>11) The long screw gets threaded onto the small 3mm hole in the side of the probe holder - arrow</a:t>
            </a:r>
          </a:p>
        </p:txBody>
      </p:sp>
      <p:sp>
        <p:nvSpPr>
          <p:cNvPr id="12" name="Right Arrow 11">
            <a:extLst>
              <a:ext uri="{FF2B5EF4-FFF2-40B4-BE49-F238E27FC236}">
                <a16:creationId xmlns:a16="http://schemas.microsoft.com/office/drawing/2014/main" id="{7FBF0A02-AAED-322E-DE51-A71A341861C1}"/>
              </a:ext>
            </a:extLst>
          </p:cNvPr>
          <p:cNvSpPr/>
          <p:nvPr/>
        </p:nvSpPr>
        <p:spPr>
          <a:xfrm>
            <a:off x="6656833" y="1123837"/>
            <a:ext cx="2097024" cy="34805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038E0EB-A575-7CE7-3CC7-DF9873B24318}"/>
              </a:ext>
            </a:extLst>
          </p:cNvPr>
          <p:cNvSpPr txBox="1"/>
          <p:nvPr/>
        </p:nvSpPr>
        <p:spPr>
          <a:xfrm>
            <a:off x="3889249" y="3657600"/>
            <a:ext cx="2036064" cy="1200329"/>
          </a:xfrm>
          <a:prstGeom prst="rect">
            <a:avLst/>
          </a:prstGeom>
          <a:solidFill>
            <a:schemeClr val="accent2"/>
          </a:solidFill>
        </p:spPr>
        <p:txBody>
          <a:bodyPr wrap="square" rtlCol="0">
            <a:spAutoFit/>
          </a:bodyPr>
          <a:lstStyle/>
          <a:p>
            <a:r>
              <a:rPr lang="en-US" dirty="0"/>
              <a:t>12) Screw in the screw until it just protrudes from the other side</a:t>
            </a:r>
          </a:p>
        </p:txBody>
      </p:sp>
      <p:sp>
        <p:nvSpPr>
          <p:cNvPr id="15" name="TextBox 14">
            <a:extLst>
              <a:ext uri="{FF2B5EF4-FFF2-40B4-BE49-F238E27FC236}">
                <a16:creationId xmlns:a16="http://schemas.microsoft.com/office/drawing/2014/main" id="{229A83E8-197E-3A2F-7839-407E989DBCF7}"/>
              </a:ext>
            </a:extLst>
          </p:cNvPr>
          <p:cNvSpPr txBox="1"/>
          <p:nvPr/>
        </p:nvSpPr>
        <p:spPr>
          <a:xfrm>
            <a:off x="7071360" y="5718048"/>
            <a:ext cx="4742688" cy="923330"/>
          </a:xfrm>
          <a:prstGeom prst="rect">
            <a:avLst/>
          </a:prstGeom>
          <a:solidFill>
            <a:schemeClr val="accent2"/>
          </a:solidFill>
        </p:spPr>
        <p:txBody>
          <a:bodyPr wrap="square" rtlCol="0">
            <a:spAutoFit/>
          </a:bodyPr>
          <a:lstStyle/>
          <a:p>
            <a:r>
              <a:rPr lang="en-US" dirty="0"/>
              <a:t>13) Screw in the smaller screw that will hold the probe into the side of the circular part as shown above</a:t>
            </a:r>
          </a:p>
        </p:txBody>
      </p:sp>
    </p:spTree>
    <p:extLst>
      <p:ext uri="{BB962C8B-B14F-4D97-AF65-F5344CB8AC3E}">
        <p14:creationId xmlns:p14="http://schemas.microsoft.com/office/powerpoint/2010/main" val="25670968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80CCAACE-815D-4A79-875A-B7EFC28F7D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person holding a small black object&#10;&#10;Description automatically generated">
            <a:extLst>
              <a:ext uri="{FF2B5EF4-FFF2-40B4-BE49-F238E27FC236}">
                <a16:creationId xmlns:a16="http://schemas.microsoft.com/office/drawing/2014/main" id="{323C697B-0595-680B-90D7-42389A1BAABB}"/>
              </a:ext>
            </a:extLst>
          </p:cNvPr>
          <p:cNvPicPr>
            <a:picLocks noChangeAspect="1"/>
          </p:cNvPicPr>
          <p:nvPr/>
        </p:nvPicPr>
        <p:blipFill rotWithShape="1">
          <a:blip r:embed="rId2"/>
          <a:srcRect l="11538" r="30018"/>
          <a:stretch/>
        </p:blipFill>
        <p:spPr>
          <a:xfrm>
            <a:off x="20" y="10"/>
            <a:ext cx="6095980" cy="6857990"/>
          </a:xfrm>
          <a:prstGeom prst="rect">
            <a:avLst/>
          </a:prstGeom>
        </p:spPr>
      </p:pic>
      <p:pic>
        <p:nvPicPr>
          <p:cNvPr id="4" name="Picture 3" descr="A hand holding a small metal piece&#10;&#10;Description automatically generated">
            <a:extLst>
              <a:ext uri="{FF2B5EF4-FFF2-40B4-BE49-F238E27FC236}">
                <a16:creationId xmlns:a16="http://schemas.microsoft.com/office/drawing/2014/main" id="{2620D490-AAB1-0968-B321-E016D337B494}"/>
              </a:ext>
            </a:extLst>
          </p:cNvPr>
          <p:cNvPicPr>
            <a:picLocks noChangeAspect="1"/>
          </p:cNvPicPr>
          <p:nvPr/>
        </p:nvPicPr>
        <p:blipFill rotWithShape="1">
          <a:blip r:embed="rId3"/>
          <a:srcRect l="11364" r="39525" b="1"/>
          <a:stretch/>
        </p:blipFill>
        <p:spPr>
          <a:xfrm>
            <a:off x="6096000" y="10"/>
            <a:ext cx="6096000" cy="6857990"/>
          </a:xfrm>
          <a:prstGeom prst="rect">
            <a:avLst/>
          </a:prstGeom>
        </p:spPr>
      </p:pic>
      <p:sp>
        <p:nvSpPr>
          <p:cNvPr id="5" name="TextBox 4">
            <a:extLst>
              <a:ext uri="{FF2B5EF4-FFF2-40B4-BE49-F238E27FC236}">
                <a16:creationId xmlns:a16="http://schemas.microsoft.com/office/drawing/2014/main" id="{B6D6B206-3EB5-C04C-3CED-512239A04739}"/>
              </a:ext>
            </a:extLst>
          </p:cNvPr>
          <p:cNvSpPr txBox="1"/>
          <p:nvPr/>
        </p:nvSpPr>
        <p:spPr>
          <a:xfrm>
            <a:off x="362608" y="5722882"/>
            <a:ext cx="8371489" cy="646331"/>
          </a:xfrm>
          <a:prstGeom prst="rect">
            <a:avLst/>
          </a:prstGeom>
          <a:solidFill>
            <a:schemeClr val="accent2"/>
          </a:solidFill>
        </p:spPr>
        <p:txBody>
          <a:bodyPr wrap="square" rtlCol="0">
            <a:spAutoFit/>
          </a:bodyPr>
          <a:lstStyle/>
          <a:p>
            <a:pPr marL="342900" indent="-342900">
              <a:buAutoNum type="arabicParenR" startAt="14"/>
            </a:pPr>
            <a:r>
              <a:rPr lang="en-US" dirty="0"/>
              <a:t>Finish mounting the probe holder to the 3-axis stage by further screwing in the long screw into the hole on the square 3D printed part - arrow</a:t>
            </a:r>
          </a:p>
        </p:txBody>
      </p:sp>
      <p:sp>
        <p:nvSpPr>
          <p:cNvPr id="6" name="Left Arrow 5">
            <a:extLst>
              <a:ext uri="{FF2B5EF4-FFF2-40B4-BE49-F238E27FC236}">
                <a16:creationId xmlns:a16="http://schemas.microsoft.com/office/drawing/2014/main" id="{81B32C64-1574-5DC4-038C-08E0445E3E62}"/>
              </a:ext>
            </a:extLst>
          </p:cNvPr>
          <p:cNvSpPr/>
          <p:nvPr/>
        </p:nvSpPr>
        <p:spPr>
          <a:xfrm>
            <a:off x="4291584" y="3913632"/>
            <a:ext cx="1365504" cy="268224"/>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478181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hand holding a black piece of metal&#10;&#10;Description automatically generated">
            <a:extLst>
              <a:ext uri="{FF2B5EF4-FFF2-40B4-BE49-F238E27FC236}">
                <a16:creationId xmlns:a16="http://schemas.microsoft.com/office/drawing/2014/main" id="{B131E20D-5288-A0E3-1E3E-B7073C43AFBC}"/>
              </a:ext>
            </a:extLst>
          </p:cNvPr>
          <p:cNvPicPr>
            <a:picLocks noChangeAspect="1"/>
          </p:cNvPicPr>
          <p:nvPr/>
        </p:nvPicPr>
        <p:blipFill rotWithShape="1">
          <a:blip r:embed="rId2"/>
          <a:srcRect t="5842" b="5241"/>
          <a:stretch/>
        </p:blipFill>
        <p:spPr>
          <a:xfrm>
            <a:off x="20" y="1282"/>
            <a:ext cx="12191980" cy="6856718"/>
          </a:xfrm>
          <a:prstGeom prst="rect">
            <a:avLst/>
          </a:prstGeom>
        </p:spPr>
      </p:pic>
      <p:sp>
        <p:nvSpPr>
          <p:cNvPr id="4" name="TextBox 3">
            <a:extLst>
              <a:ext uri="{FF2B5EF4-FFF2-40B4-BE49-F238E27FC236}">
                <a16:creationId xmlns:a16="http://schemas.microsoft.com/office/drawing/2014/main" id="{DB9F0309-EA6D-ECFB-1791-4DAB3A958B2D}"/>
              </a:ext>
            </a:extLst>
          </p:cNvPr>
          <p:cNvSpPr txBox="1"/>
          <p:nvPr/>
        </p:nvSpPr>
        <p:spPr>
          <a:xfrm>
            <a:off x="7802880" y="1706880"/>
            <a:ext cx="2762231" cy="369332"/>
          </a:xfrm>
          <a:prstGeom prst="rect">
            <a:avLst/>
          </a:prstGeom>
          <a:solidFill>
            <a:schemeClr val="accent2"/>
          </a:solidFill>
        </p:spPr>
        <p:txBody>
          <a:bodyPr wrap="none" rtlCol="0">
            <a:spAutoFit/>
          </a:bodyPr>
          <a:lstStyle/>
          <a:p>
            <a:r>
              <a:rPr lang="en-US" dirty="0"/>
              <a:t>Finished 3-axis manipulator</a:t>
            </a:r>
          </a:p>
        </p:txBody>
      </p:sp>
    </p:spTree>
    <p:extLst>
      <p:ext uri="{BB962C8B-B14F-4D97-AF65-F5344CB8AC3E}">
        <p14:creationId xmlns:p14="http://schemas.microsoft.com/office/powerpoint/2010/main" val="16631814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black metal piece with a screw on it&#10;&#10;Description automatically generated with medium confidence">
            <a:extLst>
              <a:ext uri="{FF2B5EF4-FFF2-40B4-BE49-F238E27FC236}">
                <a16:creationId xmlns:a16="http://schemas.microsoft.com/office/drawing/2014/main" id="{3D94F163-9A24-303A-559B-3D542233689B}"/>
              </a:ext>
            </a:extLst>
          </p:cNvPr>
          <p:cNvPicPr>
            <a:picLocks noChangeAspect="1"/>
          </p:cNvPicPr>
          <p:nvPr/>
        </p:nvPicPr>
        <p:blipFill rotWithShape="1">
          <a:blip r:embed="rId2"/>
          <a:srcRect t="7099" b="3632"/>
          <a:stretch/>
        </p:blipFill>
        <p:spPr>
          <a:xfrm>
            <a:off x="20" y="1282"/>
            <a:ext cx="12191980" cy="6856718"/>
          </a:xfrm>
          <a:prstGeom prst="rect">
            <a:avLst/>
          </a:prstGeom>
        </p:spPr>
      </p:pic>
      <p:sp>
        <p:nvSpPr>
          <p:cNvPr id="4" name="TextBox 3">
            <a:extLst>
              <a:ext uri="{FF2B5EF4-FFF2-40B4-BE49-F238E27FC236}">
                <a16:creationId xmlns:a16="http://schemas.microsoft.com/office/drawing/2014/main" id="{61BEC19B-CD15-6505-0297-B02DFC6B5461}"/>
              </a:ext>
            </a:extLst>
          </p:cNvPr>
          <p:cNvSpPr txBox="1"/>
          <p:nvPr/>
        </p:nvSpPr>
        <p:spPr>
          <a:xfrm>
            <a:off x="7629325" y="268224"/>
            <a:ext cx="3782387" cy="646331"/>
          </a:xfrm>
          <a:prstGeom prst="rect">
            <a:avLst/>
          </a:prstGeom>
          <a:solidFill>
            <a:schemeClr val="accent2"/>
          </a:solidFill>
        </p:spPr>
        <p:txBody>
          <a:bodyPr wrap="square" rtlCol="0">
            <a:spAutoFit/>
          </a:bodyPr>
          <a:lstStyle/>
          <a:p>
            <a:r>
              <a:rPr lang="en-US" dirty="0"/>
              <a:t>Optional – epoxy the ½ inch diameter rod into the hole in the base</a:t>
            </a:r>
          </a:p>
        </p:txBody>
      </p:sp>
    </p:spTree>
    <p:extLst>
      <p:ext uri="{BB962C8B-B14F-4D97-AF65-F5344CB8AC3E}">
        <p14:creationId xmlns:p14="http://schemas.microsoft.com/office/powerpoint/2010/main" val="23518382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420</TotalTime>
  <Words>376</Words>
  <Application>Microsoft Macintosh PowerPoint</Application>
  <PresentationFormat>Widescreen</PresentationFormat>
  <Paragraphs>28</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Ryan, James</dc:creator>
  <cp:lastModifiedBy>Ryan, James</cp:lastModifiedBy>
  <cp:revision>12</cp:revision>
  <dcterms:created xsi:type="dcterms:W3CDTF">2024-01-03T15:35:39Z</dcterms:created>
  <dcterms:modified xsi:type="dcterms:W3CDTF">2025-11-18T15:37:06Z</dcterms:modified>
</cp:coreProperties>
</file>